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CareerPilot is a placement-preparation workspace for engineering students. It does not list opportunities — it reads the progress a student is already generating on the platforms they already use, and turns it into analytics, a plan and a portfolio. This review covers the problem, the objectives, the architecture and exactly what is built and verified so far.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the structure so the invigilator knows where you are going. Flag up front that the last third is about what is already verified and what comes next — that is where the questions usually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sentence that matters: portals list, CareerPilot prepares. If asked 'isn't this just LeetCode plus a dashboard?' — no, LeetCode reports what you did on LeetCode. CareerPilot is the only place where DSA progress, contest rating, GitHub activity and the placement plan sit in one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an information problem, not a motivation problem. Students are working hard; the data exists but is scattered across four platforms. That framing is what makes the solution obviously worth building rather than another to-do 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1–5 are the product. Objective 6 is the engineering promise: the database already has the tables and the AI endpoints are already in the API contract, so switching AI on is configuration plus one adapter, not a rewrite.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answer 'why you, why this'. Keep it personal and short. The strongest point is the résumé one: students do the work but cannot show it, and that is a solvable engineering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chips out loud — point at the layers and talk about choices. The two worth defending: Flyway instead of Hibernate DDL, because schema changes must be reviewable; and validate mode, so the app refuses to boot when an entity drifts from the table rather than silently corrupting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request path once, left to right, then top to bottom: browser → security filter → controller → service → repository → Postgres. The important point is the middle tier — ownership is enforced in the service layer, so the user id always comes from the token's subject claim, never from a URL or request body. It is therefore structurally impossible for one account to read another's 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design decisions to defend here. First, Flyway owns the schema and Hibernate runs in validate mode, so the app refuses to start if an entity drifts from its table — that converts a silent data-corruption class of bug into a startup error. Second, the 19 unused tables are not dead weight: they are the contract already written down, seeded with 127 rows of real content, so each feature is a vertical slice rather than a schema redesign.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things to emphasise. One: the access token is kept in memory and never in localStorage, which is exactly why the httpOnly refresh cookie is load-bearing — a reload restores the session through a refresh call rather than a stored credential. Two: refresh tokens are rotated and single-use, so a stolen refresh token is detectable because reusing it fails. Expect the question 'why not just a long-lived JWT?' — answer: because it cannot be revoked, whereas this design has a server-side revocation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slide and it is deliberate. Say plainly: the authentication and data layer is production-shaped and verified end to end; the feature endpoints are designed and seeded but not yet exposed; the UI is built ahead of the API against a frozen contract. Invigilators reward a candidate who knows exactly where their own boundary is — and it pre-empts 'so does the dashboard work?', which you want to answer before they ask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five things, no more. The most persuasive detail is the top-right clock and the streak chip — small touches that make it feel like a product rather than a college project. Be ready to say which numbers are live (the user identity) and which are still mock (the statistics), because that question will come.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split deliberately: DSA is a fast-moving, per-platform time series, while a portfolio changes slowly and is analysed as a document set. Merging them produced a screen that did neither job well, so they are separate routes driven by separate data. This shows product judgement, which is what separates a build from a project.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quickly here — these are the productivity surfaces, and the argument is breadth: goals, roadmaps, contests and hackathons all live behind the same navigation, the same design system and the same data contract. Notes and the interview hub are two more screens built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stages 0–3 are done *and verified*, not merely written. Explain why auth came first: every later feature inherits ownership rules and the request pipeline from it, so building it after the features would mean retrofitting security into eleven screens. The Goals slice is next because it proves Vercel → Render → Neon end to end with real writes.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land: deterministic analytics stay deterministic, and AI only explains and suggests. If the invigilator asks 'what if the AI is wrong?', the answer is that no number on any screen depends on a model — the rule-based engine is the permanent fallback, and the AI layer adds prose on top of computed facts.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engineering story, not the feature list: schema under migration control, authentication verified in both directions, a frozen API contract and a UI built against it. Then state the next step concretely — the Goals vertical slice — so the reviewer leaves knowing exactly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talking and invite questions — the deck has already made the argument. Have the running app open in a second window so you can jump straight to a live login and the dashboard rather than describing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463039" y="-365759"/>
            <a:ext cx="8412480" cy="8412480"/>
          </a:xfrm>
          <a:prstGeom prst="roundRect">
            <a:avLst>
              <a:gd name="adj" fmla="val 50000"/>
            </a:avLst>
          </a:prstGeom>
          <a:solidFill>
            <a:srgbClr val="2F7D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35040" y="1463039"/>
            <a:ext cx="7315200" cy="7315200"/>
          </a:xfrm>
          <a:prstGeom prst="roundRect">
            <a:avLst>
              <a:gd name="adj" fmla="val 50000"/>
            </a:avLst>
          </a:prstGeom>
          <a:solidFill>
            <a:srgbClr val="9D3B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777240" y="1572768"/>
            <a:ext cx="2011680" cy="2011680"/>
          </a:xfrm>
          <a:prstGeom prst="rect">
            <a:avLst/>
          </a:prstGeom>
        </p:spPr>
      </p:pic>
      <p:sp>
        <p:nvSpPr>
          <p:cNvPr id="6" name="TextBox 5"/>
          <p:cNvSpPr txBox="1"/>
          <p:nvPr/>
        </p:nvSpPr>
        <p:spPr>
          <a:xfrm>
            <a:off x="3200400" y="1755648"/>
            <a:ext cx="8595360" cy="868680"/>
          </a:xfrm>
          <a:prstGeom prst="rect">
            <a:avLst/>
          </a:prstGeom>
          <a:noFill/>
        </p:spPr>
        <p:txBody>
          <a:bodyPr wrap="square" lIns="0" rIns="0" tIns="0" bIns="0" anchor="t">
            <a:spAutoFit/>
          </a:bodyPr>
          <a:lstStyle/>
          <a:p>
            <a:pPr algn="l"/>
            <a:r>
              <a:rPr sz="5000" b="1">
                <a:solidFill>
                  <a:srgbClr val="FFFFFF"/>
                </a:solidFill>
                <a:latin typeface="Segoe UI"/>
                <a:cs typeface="Segoe UI"/>
              </a:rPr>
              <a:t>Career</a:t>
            </a:r>
            <a:r>
              <a:rPr sz="5000" b="1">
                <a:solidFill>
                  <a:srgbClr val="4F8CFF"/>
                </a:solidFill>
                <a:latin typeface="Segoe UI"/>
                <a:cs typeface="Segoe UI"/>
              </a:rPr>
              <a:t>Pilot</a:t>
            </a:r>
          </a:p>
        </p:txBody>
      </p:sp>
      <p:sp>
        <p:nvSpPr>
          <p:cNvPr id="7" name="TextBox 6"/>
          <p:cNvSpPr txBox="1"/>
          <p:nvPr/>
        </p:nvSpPr>
        <p:spPr>
          <a:xfrm>
            <a:off x="3255264" y="2706624"/>
            <a:ext cx="8229600" cy="237744"/>
          </a:xfrm>
          <a:prstGeom prst="rect">
            <a:avLst/>
          </a:prstGeom>
          <a:noFill/>
        </p:spPr>
        <p:txBody>
          <a:bodyPr wrap="square" lIns="0" rIns="0" tIns="0" bIns="0" anchor="t">
            <a:spAutoFit/>
          </a:bodyPr>
          <a:lstStyle/>
          <a:p>
            <a:pPr algn="l"/>
            <a:r>
              <a:rPr sz="1000" b="1" spc="200">
                <a:solidFill>
                  <a:srgbClr val="9A9CAB"/>
                </a:solidFill>
                <a:latin typeface="Segoe UI"/>
                <a:cs typeface="Segoe UI"/>
              </a:rPr>
              <a:t>PLAN</a:t>
            </a:r>
            <a:r>
              <a:rPr sz="1000" b="1">
                <a:solidFill>
                  <a:srgbClr val="7FD4FF"/>
                </a:solidFill>
                <a:latin typeface="Segoe UI"/>
                <a:cs typeface="Segoe UI"/>
              </a:rPr>
              <a:t>   ·   </a:t>
            </a:r>
            <a:r>
              <a:rPr sz="1000" b="1" spc="200">
                <a:solidFill>
                  <a:srgbClr val="9A9CAB"/>
                </a:solidFill>
                <a:latin typeface="Segoe UI"/>
                <a:cs typeface="Segoe UI"/>
              </a:rPr>
              <a:t>PREPARE</a:t>
            </a:r>
            <a:r>
              <a:rPr sz="1000" b="1">
                <a:solidFill>
                  <a:srgbClr val="7FD4FF"/>
                </a:solidFill>
                <a:latin typeface="Segoe UI"/>
                <a:cs typeface="Segoe UI"/>
              </a:rPr>
              <a:t>   ·   </a:t>
            </a:r>
            <a:r>
              <a:rPr sz="1000" b="1" spc="200">
                <a:solidFill>
                  <a:srgbClr val="9A9CAB"/>
                </a:solidFill>
                <a:latin typeface="Segoe UI"/>
                <a:cs typeface="Segoe UI"/>
              </a:rPr>
              <a:t>PERFORM</a:t>
            </a:r>
            <a:r>
              <a:rPr sz="1000" b="1">
                <a:solidFill>
                  <a:srgbClr val="7FD4FF"/>
                </a:solidFill>
                <a:latin typeface="Segoe UI"/>
                <a:cs typeface="Segoe UI"/>
              </a:rPr>
              <a:t>   ·   </a:t>
            </a:r>
            <a:r>
              <a:rPr sz="1000" b="1" spc="200">
                <a:solidFill>
                  <a:srgbClr val="9A9CAB"/>
                </a:solidFill>
                <a:latin typeface="Segoe UI"/>
                <a:cs typeface="Segoe UI"/>
              </a:rPr>
              <a:t>SUCCEED</a:t>
            </a:r>
          </a:p>
        </p:txBody>
      </p:sp>
      <p:sp>
        <p:nvSpPr>
          <p:cNvPr id="8" name="Rounded Rectangle 7"/>
          <p:cNvSpPr/>
          <p:nvPr/>
        </p:nvSpPr>
        <p:spPr>
          <a:xfrm>
            <a:off x="3255264" y="3127248"/>
            <a:ext cx="237744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55264" y="3383280"/>
            <a:ext cx="7863840" cy="310896"/>
          </a:xfrm>
          <a:prstGeom prst="rect">
            <a:avLst/>
          </a:prstGeom>
          <a:noFill/>
        </p:spPr>
        <p:txBody>
          <a:bodyPr wrap="square" lIns="0" rIns="0" tIns="0" bIns="0" anchor="t">
            <a:spAutoFit/>
          </a:bodyPr>
          <a:lstStyle/>
          <a:p>
            <a:pPr algn="l"/>
            <a:r>
              <a:rPr sz="1700" b="1">
                <a:solidFill>
                  <a:srgbClr val="FFFFFF"/>
                </a:solidFill>
                <a:latin typeface="Segoe UI"/>
                <a:cs typeface="Segoe UI"/>
              </a:rPr>
              <a:t>Mid-Evaluation Progress Review</a:t>
            </a:r>
          </a:p>
        </p:txBody>
      </p:sp>
      <p:sp>
        <p:nvSpPr>
          <p:cNvPr id="10" name="TextBox 9"/>
          <p:cNvSpPr txBox="1"/>
          <p:nvPr/>
        </p:nvSpPr>
        <p:spPr>
          <a:xfrm>
            <a:off x="3255264" y="3803904"/>
            <a:ext cx="7863840" cy="274320"/>
          </a:xfrm>
          <a:prstGeom prst="rect">
            <a:avLst/>
          </a:prstGeom>
          <a:noFill/>
        </p:spPr>
        <p:txBody>
          <a:bodyPr wrap="square" lIns="0" rIns="0" tIns="0" bIns="0" anchor="t">
            <a:spAutoFit/>
          </a:bodyPr>
          <a:lstStyle/>
          <a:p>
            <a:pPr algn="l"/>
            <a:r>
              <a:rPr sz="1200" b="0">
                <a:solidFill>
                  <a:srgbClr val="E8E9F0"/>
                </a:solidFill>
                <a:latin typeface="Segoe UI"/>
                <a:cs typeface="Segoe UI"/>
              </a:rPr>
              <a:t>Karan Rana  ·  B.Tech Computer Science &amp; Engineering  ·  2nd Year</a:t>
            </a:r>
          </a:p>
        </p:txBody>
      </p:sp>
      <p:sp>
        <p:nvSpPr>
          <p:cNvPr id="11" name="TextBox 10"/>
          <p:cNvSpPr txBox="1"/>
          <p:nvPr/>
        </p:nvSpPr>
        <p:spPr>
          <a:xfrm>
            <a:off x="3255264" y="4114800"/>
            <a:ext cx="7863840" cy="274320"/>
          </a:xfrm>
          <a:prstGeom prst="rect">
            <a:avLst/>
          </a:prstGeom>
          <a:noFill/>
        </p:spPr>
        <p:txBody>
          <a:bodyPr wrap="square" lIns="0" rIns="0" tIns="0" bIns="0" anchor="t">
            <a:spAutoFit/>
          </a:bodyPr>
          <a:lstStyle/>
          <a:p>
            <a:pPr algn="l"/>
            <a:r>
              <a:rPr sz="1200" b="0">
                <a:solidFill>
                  <a:srgbClr val="9A9CAB"/>
                </a:solidFill>
                <a:latin typeface="Segoe UI"/>
                <a:cs typeface="Segoe UI"/>
              </a:rPr>
              <a:t>Madhav Institute of Technology and Science, Gwalior</a:t>
            </a:r>
          </a:p>
        </p:txBody>
      </p:sp>
      <p:sp>
        <p:nvSpPr>
          <p:cNvPr id="12" name="Rectangle 11"/>
          <p:cNvSpPr/>
          <p:nvPr/>
        </p:nvSpPr>
        <p:spPr>
          <a:xfrm>
            <a:off x="3255264" y="4590288"/>
            <a:ext cx="4937760" cy="10972"/>
          </a:xfrm>
          <a:prstGeom prst="rect">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5264" y="4754880"/>
            <a:ext cx="7863840" cy="237744"/>
          </a:xfrm>
          <a:prstGeom prst="rect">
            <a:avLst/>
          </a:prstGeom>
          <a:noFill/>
        </p:spPr>
        <p:txBody>
          <a:bodyPr wrap="square" lIns="0" rIns="0" tIns="0" bIns="0" anchor="t">
            <a:spAutoFit/>
          </a:bodyPr>
          <a:lstStyle/>
          <a:p>
            <a:pPr algn="l"/>
            <a:r>
              <a:rPr sz="1000" b="0">
                <a:solidFill>
                  <a:srgbClr val="4F8CFF"/>
                </a:solidFill>
                <a:latin typeface="Consolas"/>
                <a:cs typeface="Consolas"/>
              </a:rPr>
              <a:t>github.com/karan-rxna/Career-Pilot</a:t>
            </a:r>
          </a:p>
        </p:txBody>
      </p:sp>
      <p:sp>
        <p:nvSpPr>
          <p:cNvPr id="14" name="TextBox 13"/>
          <p:cNvSpPr txBox="1"/>
          <p:nvPr/>
        </p:nvSpPr>
        <p:spPr>
          <a:xfrm>
            <a:off x="566928" y="6309360"/>
            <a:ext cx="8229600" cy="219456"/>
          </a:xfrm>
          <a:prstGeom prst="rect">
            <a:avLst/>
          </a:prstGeom>
          <a:noFill/>
        </p:spPr>
        <p:txBody>
          <a:bodyPr wrap="square" lIns="0" rIns="0" tIns="0" bIns="0" anchor="t">
            <a:spAutoFit/>
          </a:bodyPr>
          <a:lstStyle/>
          <a:p>
            <a:pPr algn="l"/>
            <a:r>
              <a:rPr sz="950" b="0">
                <a:solidFill>
                  <a:srgbClr val="6B6D7C"/>
                </a:solidFill>
                <a:latin typeface="Segoe UI"/>
                <a:cs typeface="Segoe UI"/>
              </a:rPr>
              <a:t>All-in-one student preparation &amp; placement platform</a:t>
            </a:r>
          </a:p>
        </p:txBody>
      </p:sp>
      <p:sp>
        <p:nvSpPr>
          <p:cNvPr id="15" name="TextBox 14"/>
          <p:cNvSpPr txBox="1"/>
          <p:nvPr/>
        </p:nvSpPr>
        <p:spPr>
          <a:xfrm>
            <a:off x="9339041" y="6309360"/>
            <a:ext cx="2286000" cy="219456"/>
          </a:xfrm>
          <a:prstGeom prst="rect">
            <a:avLst/>
          </a:prstGeom>
          <a:noFill/>
        </p:spPr>
        <p:txBody>
          <a:bodyPr wrap="square" lIns="0" rIns="0" tIns="0" bIns="0" anchor="t">
            <a:spAutoFit/>
          </a:bodyPr>
          <a:lstStyle/>
          <a:p>
            <a:pPr algn="l"/>
            <a:r>
              <a:rPr sz="850" b="1">
                <a:solidFill>
                  <a:srgbClr val="9A9CAB"/>
                </a:solidFill>
                <a:latin typeface="Segoe UI"/>
                <a:cs typeface="Segoe UI"/>
              </a:rPr>
              <a:t>01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CONTENTS</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What this review covers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9656"/>
            <a:ext cx="11058113" cy="237744"/>
          </a:xfrm>
          <a:prstGeom prst="rect">
            <a:avLst/>
          </a:prstGeom>
          <a:noFill/>
        </p:spPr>
        <p:txBody>
          <a:bodyPr wrap="square" lIns="0" rIns="0" tIns="0" bIns="0" anchor="t">
            <a:spAutoFit/>
          </a:bodyPr>
          <a:lstStyle/>
          <a:p>
            <a:pPr algn="l"/>
            <a:r>
              <a:rPr sz="1150" b="0">
                <a:solidFill>
                  <a:srgbClr val="9A9CAB"/>
                </a:solidFill>
                <a:latin typeface="Segoe UI"/>
                <a:cs typeface="Segoe UI"/>
              </a:rPr>
              <a:t>Ten areas, from the problem to the plan for the next milestone.</a:t>
            </a:r>
          </a:p>
        </p:txBody>
      </p:sp>
      <p:sp>
        <p:nvSpPr>
          <p:cNvPr id="11" name="Rectangle 10"/>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3" name="TextBox 12"/>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02</a:t>
            </a:r>
            <a:r>
              <a:rPr sz="850" b="0">
                <a:solidFill>
                  <a:srgbClr val="6B6D7C"/>
                </a:solidFill>
                <a:latin typeface="Segoe UI"/>
                <a:cs typeface="Segoe UI"/>
              </a:rPr>
              <a:t>  /  18</a:t>
            </a:r>
          </a:p>
        </p:txBody>
      </p:sp>
      <p:sp>
        <p:nvSpPr>
          <p:cNvPr id="14" name="Rounded Rectangle 13"/>
          <p:cNvSpPr/>
          <p:nvPr/>
        </p:nvSpPr>
        <p:spPr>
          <a:xfrm>
            <a:off x="566928" y="2011680"/>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011680"/>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01</a:t>
            </a:r>
          </a:p>
        </p:txBody>
      </p:sp>
      <p:sp>
        <p:nvSpPr>
          <p:cNvPr id="16" name="TextBox 15"/>
          <p:cNvSpPr txBox="1"/>
          <p:nvPr/>
        </p:nvSpPr>
        <p:spPr>
          <a:xfrm>
            <a:off x="1353312" y="2011680"/>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Introduction</a:t>
            </a:r>
          </a:p>
        </p:txBody>
      </p:sp>
      <p:sp>
        <p:nvSpPr>
          <p:cNvPr id="17" name="Rounded Rectangle 16"/>
          <p:cNvSpPr/>
          <p:nvPr/>
        </p:nvSpPr>
        <p:spPr>
          <a:xfrm>
            <a:off x="4326117" y="2011680"/>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7285" y="2011680"/>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02</a:t>
            </a:r>
          </a:p>
        </p:txBody>
      </p:sp>
      <p:sp>
        <p:nvSpPr>
          <p:cNvPr id="19" name="TextBox 18"/>
          <p:cNvSpPr txBox="1"/>
          <p:nvPr/>
        </p:nvSpPr>
        <p:spPr>
          <a:xfrm>
            <a:off x="5112501" y="2011680"/>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Problem Statement</a:t>
            </a:r>
          </a:p>
        </p:txBody>
      </p:sp>
      <p:sp>
        <p:nvSpPr>
          <p:cNvPr id="20" name="Rounded Rectangle 19"/>
          <p:cNvSpPr/>
          <p:nvPr/>
        </p:nvSpPr>
        <p:spPr>
          <a:xfrm>
            <a:off x="8085307" y="2011680"/>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6475" y="2011680"/>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03</a:t>
            </a:r>
          </a:p>
        </p:txBody>
      </p:sp>
      <p:sp>
        <p:nvSpPr>
          <p:cNvPr id="22" name="TextBox 21"/>
          <p:cNvSpPr txBox="1"/>
          <p:nvPr/>
        </p:nvSpPr>
        <p:spPr>
          <a:xfrm>
            <a:off x="8871691" y="2011680"/>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Objectives</a:t>
            </a:r>
          </a:p>
        </p:txBody>
      </p:sp>
      <p:sp>
        <p:nvSpPr>
          <p:cNvPr id="23" name="Rounded Rectangle 22"/>
          <p:cNvSpPr/>
          <p:nvPr/>
        </p:nvSpPr>
        <p:spPr>
          <a:xfrm>
            <a:off x="566928" y="3031236"/>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031236"/>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04</a:t>
            </a:r>
          </a:p>
        </p:txBody>
      </p:sp>
      <p:sp>
        <p:nvSpPr>
          <p:cNvPr id="25" name="TextBox 24"/>
          <p:cNvSpPr txBox="1"/>
          <p:nvPr/>
        </p:nvSpPr>
        <p:spPr>
          <a:xfrm>
            <a:off x="1353312" y="3031236"/>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Motive</a:t>
            </a:r>
          </a:p>
        </p:txBody>
      </p:sp>
      <p:sp>
        <p:nvSpPr>
          <p:cNvPr id="26" name="Rounded Rectangle 25"/>
          <p:cNvSpPr/>
          <p:nvPr/>
        </p:nvSpPr>
        <p:spPr>
          <a:xfrm>
            <a:off x="4326117" y="3031236"/>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7285" y="3031236"/>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05</a:t>
            </a:r>
          </a:p>
        </p:txBody>
      </p:sp>
      <p:sp>
        <p:nvSpPr>
          <p:cNvPr id="28" name="TextBox 27"/>
          <p:cNvSpPr txBox="1"/>
          <p:nvPr/>
        </p:nvSpPr>
        <p:spPr>
          <a:xfrm>
            <a:off x="5112501" y="3031236"/>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Technology Stack</a:t>
            </a:r>
          </a:p>
        </p:txBody>
      </p:sp>
      <p:sp>
        <p:nvSpPr>
          <p:cNvPr id="29" name="Rounded Rectangle 28"/>
          <p:cNvSpPr/>
          <p:nvPr/>
        </p:nvSpPr>
        <p:spPr>
          <a:xfrm>
            <a:off x="8085307" y="3031236"/>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6475" y="3031236"/>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06</a:t>
            </a:r>
          </a:p>
        </p:txBody>
      </p:sp>
      <p:sp>
        <p:nvSpPr>
          <p:cNvPr id="31" name="TextBox 30"/>
          <p:cNvSpPr txBox="1"/>
          <p:nvPr/>
        </p:nvSpPr>
        <p:spPr>
          <a:xfrm>
            <a:off x="8871691" y="3031236"/>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System Architecture</a:t>
            </a:r>
          </a:p>
        </p:txBody>
      </p:sp>
      <p:sp>
        <p:nvSpPr>
          <p:cNvPr id="32" name="Rounded Rectangle 31"/>
          <p:cNvSpPr/>
          <p:nvPr/>
        </p:nvSpPr>
        <p:spPr>
          <a:xfrm>
            <a:off x="566928" y="4050791"/>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4050791"/>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07</a:t>
            </a:r>
          </a:p>
        </p:txBody>
      </p:sp>
      <p:sp>
        <p:nvSpPr>
          <p:cNvPr id="34" name="TextBox 33"/>
          <p:cNvSpPr txBox="1"/>
          <p:nvPr/>
        </p:nvSpPr>
        <p:spPr>
          <a:xfrm>
            <a:off x="1353312" y="4050791"/>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Database Design</a:t>
            </a:r>
          </a:p>
        </p:txBody>
      </p:sp>
      <p:sp>
        <p:nvSpPr>
          <p:cNvPr id="35" name="Rounded Rectangle 34"/>
          <p:cNvSpPr/>
          <p:nvPr/>
        </p:nvSpPr>
        <p:spPr>
          <a:xfrm>
            <a:off x="4326117" y="4050791"/>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7285" y="4050791"/>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08</a:t>
            </a:r>
          </a:p>
        </p:txBody>
      </p:sp>
      <p:sp>
        <p:nvSpPr>
          <p:cNvPr id="37" name="TextBox 36"/>
          <p:cNvSpPr txBox="1"/>
          <p:nvPr/>
        </p:nvSpPr>
        <p:spPr>
          <a:xfrm>
            <a:off x="5112501" y="4050791"/>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Authentication &amp; Security</a:t>
            </a:r>
          </a:p>
        </p:txBody>
      </p:sp>
      <p:sp>
        <p:nvSpPr>
          <p:cNvPr id="38" name="Rounded Rectangle 37"/>
          <p:cNvSpPr/>
          <p:nvPr/>
        </p:nvSpPr>
        <p:spPr>
          <a:xfrm>
            <a:off x="8085307" y="4050791"/>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86475" y="4050791"/>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09</a:t>
            </a:r>
          </a:p>
        </p:txBody>
      </p:sp>
      <p:sp>
        <p:nvSpPr>
          <p:cNvPr id="40" name="TextBox 39"/>
          <p:cNvSpPr txBox="1"/>
          <p:nvPr/>
        </p:nvSpPr>
        <p:spPr>
          <a:xfrm>
            <a:off x="8871691" y="4050791"/>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Current Status</a:t>
            </a:r>
          </a:p>
        </p:txBody>
      </p:sp>
      <p:sp>
        <p:nvSpPr>
          <p:cNvPr id="41" name="Rounded Rectangle 40"/>
          <p:cNvSpPr/>
          <p:nvPr/>
        </p:nvSpPr>
        <p:spPr>
          <a:xfrm>
            <a:off x="566928" y="5070348"/>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070348"/>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10</a:t>
            </a:r>
          </a:p>
        </p:txBody>
      </p:sp>
      <p:sp>
        <p:nvSpPr>
          <p:cNvPr id="43" name="TextBox 42"/>
          <p:cNvSpPr txBox="1"/>
          <p:nvPr/>
        </p:nvSpPr>
        <p:spPr>
          <a:xfrm>
            <a:off x="1353312" y="5070348"/>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Product Walkthrough</a:t>
            </a:r>
          </a:p>
        </p:txBody>
      </p:sp>
      <p:sp>
        <p:nvSpPr>
          <p:cNvPr id="44" name="Rounded Rectangle 43"/>
          <p:cNvSpPr/>
          <p:nvPr/>
        </p:nvSpPr>
        <p:spPr>
          <a:xfrm>
            <a:off x="4326117" y="5070348"/>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7285" y="5070348"/>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11</a:t>
            </a:r>
          </a:p>
        </p:txBody>
      </p:sp>
      <p:sp>
        <p:nvSpPr>
          <p:cNvPr id="46" name="TextBox 45"/>
          <p:cNvSpPr txBox="1"/>
          <p:nvPr/>
        </p:nvSpPr>
        <p:spPr>
          <a:xfrm>
            <a:off x="5112501" y="5070348"/>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Roadmap &amp; Future Scope</a:t>
            </a:r>
          </a:p>
        </p:txBody>
      </p:sp>
      <p:sp>
        <p:nvSpPr>
          <p:cNvPr id="47" name="Rounded Rectangle 46"/>
          <p:cNvSpPr/>
          <p:nvPr/>
        </p:nvSpPr>
        <p:spPr>
          <a:xfrm>
            <a:off x="8085307" y="5070348"/>
            <a:ext cx="3539733" cy="873252"/>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86475" y="5070348"/>
            <a:ext cx="640080" cy="873252"/>
          </a:xfrm>
          <a:prstGeom prst="rect">
            <a:avLst/>
          </a:prstGeom>
          <a:noFill/>
        </p:spPr>
        <p:txBody>
          <a:bodyPr wrap="square" lIns="0" rIns="0" tIns="0" bIns="0" anchor="ctr">
            <a:spAutoFit/>
          </a:bodyPr>
          <a:lstStyle/>
          <a:p>
            <a:pPr algn="l"/>
            <a:r>
              <a:rPr sz="1300" b="1">
                <a:solidFill>
                  <a:srgbClr val="4F8CFF"/>
                </a:solidFill>
                <a:latin typeface="Consolas"/>
                <a:cs typeface="Consolas"/>
              </a:rPr>
              <a:t>12</a:t>
            </a:r>
          </a:p>
        </p:txBody>
      </p:sp>
      <p:sp>
        <p:nvSpPr>
          <p:cNvPr id="49" name="TextBox 48"/>
          <p:cNvSpPr txBox="1"/>
          <p:nvPr/>
        </p:nvSpPr>
        <p:spPr>
          <a:xfrm>
            <a:off x="8871691" y="5070348"/>
            <a:ext cx="2625333" cy="873252"/>
          </a:xfrm>
          <a:prstGeom prst="rect">
            <a:avLst/>
          </a:prstGeom>
          <a:noFill/>
        </p:spPr>
        <p:txBody>
          <a:bodyPr wrap="square" lIns="0" rIns="0" tIns="0" bIns="0" anchor="ctr">
            <a:spAutoFit/>
          </a:bodyPr>
          <a:lstStyle/>
          <a:p>
            <a:pPr algn="l"/>
            <a:r>
              <a:rPr sz="1200" b="0">
                <a:solidFill>
                  <a:srgbClr val="E8E9F0"/>
                </a:solidFill>
                <a:latin typeface="Segoe UI"/>
                <a:cs typeface="Segoe UI"/>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01 · INTRODUCTION</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One workspace for the whole placement journey</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9656"/>
            <a:ext cx="11058113" cy="237744"/>
          </a:xfrm>
          <a:prstGeom prst="rect">
            <a:avLst/>
          </a:prstGeom>
          <a:noFill/>
        </p:spPr>
        <p:txBody>
          <a:bodyPr wrap="square" lIns="0" rIns="0" tIns="0" bIns="0" anchor="t">
            <a:spAutoFit/>
          </a:bodyPr>
          <a:lstStyle/>
          <a:p>
            <a:pPr algn="l"/>
            <a:r>
              <a:rPr sz="1150" b="0">
                <a:solidFill>
                  <a:srgbClr val="9A9CAB"/>
                </a:solidFill>
                <a:latin typeface="Segoe UI"/>
                <a:cs typeface="Segoe UI"/>
              </a:rPr>
              <a:t>CareerPilot connects to the platforms a student already uses, reads the progress already there, and turns it into analytics, a plan and a portfolio.</a:t>
            </a:r>
          </a:p>
        </p:txBody>
      </p:sp>
      <p:sp>
        <p:nvSpPr>
          <p:cNvPr id="11" name="Rectangle 10"/>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3" name="TextBox 12"/>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03</a:t>
            </a:r>
            <a:r>
              <a:rPr sz="850" b="0">
                <a:solidFill>
                  <a:srgbClr val="6B6D7C"/>
                </a:solidFill>
                <a:latin typeface="Segoe UI"/>
                <a:cs typeface="Segoe UI"/>
              </a:rPr>
              <a:t>  /  18</a:t>
            </a:r>
          </a:p>
        </p:txBody>
      </p:sp>
      <p:sp>
        <p:nvSpPr>
          <p:cNvPr id="14" name="TextBox 13"/>
          <p:cNvSpPr txBox="1"/>
          <p:nvPr/>
        </p:nvSpPr>
        <p:spPr>
          <a:xfrm>
            <a:off x="566928" y="2670048"/>
            <a:ext cx="11058113" cy="548640"/>
          </a:xfrm>
          <a:prstGeom prst="rect">
            <a:avLst/>
          </a:prstGeom>
          <a:noFill/>
        </p:spPr>
        <p:txBody>
          <a:bodyPr wrap="square" lIns="0" rIns="0" tIns="0" bIns="0" anchor="t">
            <a:spAutoFit/>
          </a:bodyPr>
          <a:lstStyle/>
          <a:p>
            <a:pPr algn="l"/>
            <a:r>
              <a:rPr sz="1300" b="0">
                <a:solidFill>
                  <a:srgbClr val="E8E9F0"/>
                </a:solidFill>
                <a:latin typeface="Segoe UI"/>
                <a:cs typeface="Segoe UI"/>
              </a:rPr>
              <a:t>Existing tools stop at listing opportunities. CareerPilot starts where they stop — with the student's own activity.</a:t>
            </a:r>
          </a:p>
        </p:txBody>
      </p:sp>
      <p:sp>
        <p:nvSpPr>
          <p:cNvPr id="15" name="Rounded Rectangle 14"/>
          <p:cNvSpPr/>
          <p:nvPr/>
        </p:nvSpPr>
        <p:spPr>
          <a:xfrm>
            <a:off x="566928" y="3474720"/>
            <a:ext cx="3527541" cy="18288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7" y="3712463"/>
            <a:ext cx="100584" cy="100584"/>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3648456"/>
            <a:ext cx="2741157" cy="274320"/>
          </a:xfrm>
          <a:prstGeom prst="rect">
            <a:avLst/>
          </a:prstGeom>
          <a:noFill/>
        </p:spPr>
        <p:txBody>
          <a:bodyPr wrap="square" lIns="0" rIns="0" tIns="0" bIns="0" anchor="t">
            <a:spAutoFit/>
          </a:bodyPr>
          <a:lstStyle/>
          <a:p>
            <a:pPr algn="l"/>
            <a:r>
              <a:rPr sz="1350" b="1">
                <a:solidFill>
                  <a:srgbClr val="FFFFFF"/>
                </a:solidFill>
                <a:latin typeface="Segoe UI"/>
                <a:cs typeface="Segoe UI"/>
              </a:rPr>
              <a:t>Portals only list</a:t>
            </a:r>
          </a:p>
        </p:txBody>
      </p:sp>
      <p:sp>
        <p:nvSpPr>
          <p:cNvPr id="18" name="TextBox 17"/>
          <p:cNvSpPr txBox="1"/>
          <p:nvPr/>
        </p:nvSpPr>
        <p:spPr>
          <a:xfrm>
            <a:off x="841247" y="4059936"/>
            <a:ext cx="2978901" cy="1051560"/>
          </a:xfrm>
          <a:prstGeom prst="rect">
            <a:avLst/>
          </a:prstGeom>
          <a:noFill/>
        </p:spPr>
        <p:txBody>
          <a:bodyPr wrap="square" lIns="0" rIns="0" tIns="0" bIns="0" anchor="t">
            <a:spAutoFit/>
          </a:bodyPr>
          <a:lstStyle/>
          <a:p>
            <a:pPr algn="l"/>
            <a:r>
              <a:rPr sz="1050" b="0">
                <a:solidFill>
                  <a:srgbClr val="9A9CAB"/>
                </a:solidFill>
                <a:latin typeface="Segoe UI"/>
                <a:cs typeface="Segoe UI"/>
              </a:rPr>
              <a:t>Placement portals publish openings, but offer no path from 'interested' to 'ready'.</a:t>
            </a:r>
          </a:p>
        </p:txBody>
      </p:sp>
      <p:sp>
        <p:nvSpPr>
          <p:cNvPr id="19" name="Rounded Rectangle 18"/>
          <p:cNvSpPr/>
          <p:nvPr/>
        </p:nvSpPr>
        <p:spPr>
          <a:xfrm>
            <a:off x="4332213" y="3474720"/>
            <a:ext cx="3527541" cy="18288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606533" y="3712463"/>
            <a:ext cx="100584" cy="100584"/>
          </a:xfrm>
          <a:prstGeom prst="ellipse">
            <a:avLst/>
          </a:prstGeom>
          <a:solidFill>
            <a:srgbClr val="FB7185">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4277" y="3648456"/>
            <a:ext cx="2741157" cy="274320"/>
          </a:xfrm>
          <a:prstGeom prst="rect">
            <a:avLst/>
          </a:prstGeom>
          <a:noFill/>
        </p:spPr>
        <p:txBody>
          <a:bodyPr wrap="square" lIns="0" rIns="0" tIns="0" bIns="0" anchor="t">
            <a:spAutoFit/>
          </a:bodyPr>
          <a:lstStyle/>
          <a:p>
            <a:pPr algn="l"/>
            <a:r>
              <a:rPr sz="1350" b="1">
                <a:solidFill>
                  <a:srgbClr val="FFFFFF"/>
                </a:solidFill>
                <a:latin typeface="Segoe UI"/>
                <a:cs typeface="Segoe UI"/>
              </a:rPr>
              <a:t>Trackers make you type</a:t>
            </a:r>
          </a:p>
        </p:txBody>
      </p:sp>
      <p:sp>
        <p:nvSpPr>
          <p:cNvPr id="22" name="TextBox 21"/>
          <p:cNvSpPr txBox="1"/>
          <p:nvPr/>
        </p:nvSpPr>
        <p:spPr>
          <a:xfrm>
            <a:off x="4606533" y="4059936"/>
            <a:ext cx="2978901" cy="1051560"/>
          </a:xfrm>
          <a:prstGeom prst="rect">
            <a:avLst/>
          </a:prstGeom>
          <a:noFill/>
        </p:spPr>
        <p:txBody>
          <a:bodyPr wrap="square" lIns="0" rIns="0" tIns="0" bIns="0" anchor="t">
            <a:spAutoFit/>
          </a:bodyPr>
          <a:lstStyle/>
          <a:p>
            <a:pPr algn="l"/>
            <a:r>
              <a:rPr sz="1050" b="0">
                <a:solidFill>
                  <a:srgbClr val="9A9CAB"/>
                </a:solidFill>
                <a:latin typeface="Segoe UI"/>
                <a:cs typeface="Segoe UI"/>
              </a:rPr>
              <a:t>DSA trackers ask the student to mark problems solved by hand, so they go stale within a week.</a:t>
            </a:r>
          </a:p>
        </p:txBody>
      </p:sp>
      <p:sp>
        <p:nvSpPr>
          <p:cNvPr id="23" name="Rounded Rectangle 22"/>
          <p:cNvSpPr/>
          <p:nvPr/>
        </p:nvSpPr>
        <p:spPr>
          <a:xfrm>
            <a:off x="8097499" y="3474720"/>
            <a:ext cx="3527541" cy="18288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71819" y="3712463"/>
            <a:ext cx="100584" cy="100584"/>
          </a:xfrm>
          <a:prstGeom prst="ellipse">
            <a:avLst/>
          </a:prstGeom>
          <a:solidFill>
            <a:srgbClr val="7FD4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9563" y="3648456"/>
            <a:ext cx="2741157" cy="274320"/>
          </a:xfrm>
          <a:prstGeom prst="rect">
            <a:avLst/>
          </a:prstGeom>
          <a:noFill/>
        </p:spPr>
        <p:txBody>
          <a:bodyPr wrap="square" lIns="0" rIns="0" tIns="0" bIns="0" anchor="t">
            <a:spAutoFit/>
          </a:bodyPr>
          <a:lstStyle/>
          <a:p>
            <a:pPr algn="l"/>
            <a:r>
              <a:rPr sz="1350" b="1">
                <a:solidFill>
                  <a:srgbClr val="FFFFFF"/>
                </a:solidFill>
                <a:latin typeface="Segoe UI"/>
                <a:cs typeface="Segoe UI"/>
              </a:rPr>
              <a:t>Evidence is scattered</a:t>
            </a:r>
          </a:p>
        </p:txBody>
      </p:sp>
      <p:sp>
        <p:nvSpPr>
          <p:cNvPr id="26" name="TextBox 25"/>
          <p:cNvSpPr txBox="1"/>
          <p:nvPr/>
        </p:nvSpPr>
        <p:spPr>
          <a:xfrm>
            <a:off x="8371819" y="4059936"/>
            <a:ext cx="2978901" cy="1051560"/>
          </a:xfrm>
          <a:prstGeom prst="rect">
            <a:avLst/>
          </a:prstGeom>
          <a:noFill/>
        </p:spPr>
        <p:txBody>
          <a:bodyPr wrap="square" lIns="0" rIns="0" tIns="0" bIns="0" anchor="t">
            <a:spAutoFit/>
          </a:bodyPr>
          <a:lstStyle/>
          <a:p>
            <a:pPr algn="l"/>
            <a:r>
              <a:rPr sz="1050" b="0">
                <a:solidFill>
                  <a:srgbClr val="9A9CAB"/>
                </a:solidFill>
                <a:latin typeface="Segoe UI"/>
                <a:cs typeface="Segoe UI"/>
              </a:rPr>
              <a:t>Solved counts, contest ratings and commits live on separate platforms with no single view.</a:t>
            </a:r>
          </a:p>
        </p:txBody>
      </p:sp>
      <p:sp>
        <p:nvSpPr>
          <p:cNvPr id="27" name="TextBox 26"/>
          <p:cNvSpPr txBox="1"/>
          <p:nvPr/>
        </p:nvSpPr>
        <p:spPr>
          <a:xfrm>
            <a:off x="566928" y="5541264"/>
            <a:ext cx="11058113" cy="365760"/>
          </a:xfrm>
          <a:prstGeom prst="rect">
            <a:avLst/>
          </a:prstGeom>
          <a:noFill/>
        </p:spPr>
        <p:txBody>
          <a:bodyPr wrap="square" lIns="0" rIns="0" tIns="0" bIns="0" anchor="t">
            <a:spAutoFit/>
          </a:bodyPr>
          <a:lstStyle/>
          <a:p>
            <a:pPr algn="l"/>
            <a:r>
              <a:rPr sz="1150" b="0">
                <a:solidFill>
                  <a:srgbClr val="9A9CAB"/>
                </a:solidFill>
                <a:latin typeface="Segoe UI"/>
                <a:cs typeface="Segoe UI"/>
              </a:rPr>
              <a:t>The answer: </a:t>
            </a:r>
            <a:r>
              <a:rPr sz="1150" b="1">
                <a:solidFill>
                  <a:srgbClr val="E8E9F0"/>
                </a:solidFill>
                <a:latin typeface="Segoe UI"/>
                <a:cs typeface="Segoe UI"/>
              </a:rPr>
              <a:t>one dashboard that reads what you have already done and plans what to do 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02 · PROBLEM STATEMENT</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Preparation is fragmented, and progress is invisible</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04</a:t>
            </a:r>
            <a:r>
              <a:rPr sz="850" b="0">
                <a:solidFill>
                  <a:srgbClr val="6B6D7C"/>
                </a:solidFill>
                <a:latin typeface="Segoe UI"/>
                <a:cs typeface="Segoe UI"/>
              </a:rPr>
              <a:t>  /  18</a:t>
            </a:r>
          </a:p>
        </p:txBody>
      </p:sp>
      <p:sp>
        <p:nvSpPr>
          <p:cNvPr id="13" name="Rounded Rectangle 12"/>
          <p:cNvSpPr/>
          <p:nvPr/>
        </p:nvSpPr>
        <p:spPr>
          <a:xfrm>
            <a:off x="566928" y="2011680"/>
            <a:ext cx="5391896" cy="16002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212848"/>
            <a:ext cx="41148" cy="658368"/>
          </a:xfrm>
          <a:prstGeom prst="roundRect">
            <a:avLst>
              <a:gd name="adj" fmla="val 50000"/>
            </a:avLst>
          </a:prstGeom>
          <a:solidFill>
            <a:srgbClr val="FB7185">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249424"/>
            <a:ext cx="4788392" cy="274320"/>
          </a:xfrm>
          <a:prstGeom prst="rect">
            <a:avLst/>
          </a:prstGeom>
          <a:noFill/>
        </p:spPr>
        <p:txBody>
          <a:bodyPr wrap="square" lIns="0" rIns="0" tIns="0" bIns="0" anchor="t">
            <a:spAutoFit/>
          </a:bodyPr>
          <a:lstStyle/>
          <a:p>
            <a:pPr algn="l"/>
            <a:r>
              <a:rPr sz="1300" b="1">
                <a:solidFill>
                  <a:srgbClr val="FFFFFF"/>
                </a:solidFill>
                <a:latin typeface="Segoe UI"/>
                <a:cs typeface="Segoe UI"/>
              </a:rPr>
              <a:t>Opportunities without preparation</a:t>
            </a:r>
          </a:p>
        </p:txBody>
      </p:sp>
      <p:sp>
        <p:nvSpPr>
          <p:cNvPr id="16" name="TextBox 15"/>
          <p:cNvSpPr txBox="1"/>
          <p:nvPr/>
        </p:nvSpPr>
        <p:spPr>
          <a:xfrm>
            <a:off x="877824" y="2651760"/>
            <a:ext cx="4788392" cy="749808"/>
          </a:xfrm>
          <a:prstGeom prst="rect">
            <a:avLst/>
          </a:prstGeom>
          <a:noFill/>
        </p:spPr>
        <p:txBody>
          <a:bodyPr wrap="square" lIns="0" rIns="0" tIns="0" bIns="0" anchor="t">
            <a:spAutoFit/>
          </a:bodyPr>
          <a:lstStyle/>
          <a:p>
            <a:pPr algn="l"/>
            <a:r>
              <a:rPr sz="1050" b="0">
                <a:solidFill>
                  <a:srgbClr val="9A9CAB"/>
                </a:solidFill>
                <a:latin typeface="Segoe UI"/>
                <a:cs typeface="Segoe UI"/>
              </a:rPr>
              <a:t>Placement portals post jobs and internships, but nothing helps a student become the candidate who gets shortlisted.</a:t>
            </a:r>
          </a:p>
        </p:txBody>
      </p:sp>
      <p:sp>
        <p:nvSpPr>
          <p:cNvPr id="17" name="Rounded Rectangle 16"/>
          <p:cNvSpPr/>
          <p:nvPr/>
        </p:nvSpPr>
        <p:spPr>
          <a:xfrm>
            <a:off x="6233144" y="2011680"/>
            <a:ext cx="5391896" cy="16002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33144" y="2212848"/>
            <a:ext cx="41148" cy="658368"/>
          </a:xfrm>
          <a:prstGeom prst="roundRect">
            <a:avLst>
              <a:gd name="adj" fmla="val 50000"/>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44040" y="2249424"/>
            <a:ext cx="4788392" cy="274320"/>
          </a:xfrm>
          <a:prstGeom prst="rect">
            <a:avLst/>
          </a:prstGeom>
          <a:noFill/>
        </p:spPr>
        <p:txBody>
          <a:bodyPr wrap="square" lIns="0" rIns="0" tIns="0" bIns="0" anchor="t">
            <a:spAutoFit/>
          </a:bodyPr>
          <a:lstStyle/>
          <a:p>
            <a:pPr algn="l"/>
            <a:r>
              <a:rPr sz="1300" b="1">
                <a:solidFill>
                  <a:srgbClr val="FFFFFF"/>
                </a:solidFill>
                <a:latin typeface="Segoe UI"/>
                <a:cs typeface="Segoe UI"/>
              </a:rPr>
              <a:t>Manual, self-reported DSA tracking</a:t>
            </a:r>
          </a:p>
        </p:txBody>
      </p:sp>
      <p:sp>
        <p:nvSpPr>
          <p:cNvPr id="20" name="TextBox 19"/>
          <p:cNvSpPr txBox="1"/>
          <p:nvPr/>
        </p:nvSpPr>
        <p:spPr>
          <a:xfrm>
            <a:off x="6544040" y="2651760"/>
            <a:ext cx="4788392" cy="749808"/>
          </a:xfrm>
          <a:prstGeom prst="rect">
            <a:avLst/>
          </a:prstGeom>
          <a:noFill/>
        </p:spPr>
        <p:txBody>
          <a:bodyPr wrap="square" lIns="0" rIns="0" tIns="0" bIns="0" anchor="t">
            <a:spAutoFit/>
          </a:bodyPr>
          <a:lstStyle/>
          <a:p>
            <a:pPr algn="l"/>
            <a:r>
              <a:rPr sz="1050" b="0">
                <a:solidFill>
                  <a:srgbClr val="9A9CAB"/>
                </a:solidFill>
                <a:latin typeface="Segoe UI"/>
                <a:cs typeface="Segoe UI"/>
              </a:rPr>
              <a:t>Every DSA tracker depends on the student marking problems solved — and rots the moment they stop.</a:t>
            </a:r>
          </a:p>
        </p:txBody>
      </p:sp>
      <p:sp>
        <p:nvSpPr>
          <p:cNvPr id="21" name="Rounded Rectangle 20"/>
          <p:cNvSpPr/>
          <p:nvPr/>
        </p:nvSpPr>
        <p:spPr>
          <a:xfrm>
            <a:off x="566928" y="3794760"/>
            <a:ext cx="5391896" cy="16002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3995928"/>
            <a:ext cx="41148" cy="658368"/>
          </a:xfrm>
          <a:prstGeom prst="roundRect">
            <a:avLst>
              <a:gd name="adj" fmla="val 50000"/>
            </a:avLst>
          </a:prstGeom>
          <a:solidFill>
            <a:srgbClr val="7FD4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032504"/>
            <a:ext cx="4788392" cy="274320"/>
          </a:xfrm>
          <a:prstGeom prst="rect">
            <a:avLst/>
          </a:prstGeom>
          <a:noFill/>
        </p:spPr>
        <p:txBody>
          <a:bodyPr wrap="square" lIns="0" rIns="0" tIns="0" bIns="0" anchor="t">
            <a:spAutoFit/>
          </a:bodyPr>
          <a:lstStyle/>
          <a:p>
            <a:pPr algn="l"/>
            <a:r>
              <a:rPr sz="1300" b="1">
                <a:solidFill>
                  <a:srgbClr val="FFFFFF"/>
                </a:solidFill>
                <a:latin typeface="Segoe UI"/>
                <a:cs typeface="Segoe UI"/>
              </a:rPr>
              <a:t>No unified progress view</a:t>
            </a:r>
          </a:p>
        </p:txBody>
      </p:sp>
      <p:sp>
        <p:nvSpPr>
          <p:cNvPr id="24" name="TextBox 23"/>
          <p:cNvSpPr txBox="1"/>
          <p:nvPr/>
        </p:nvSpPr>
        <p:spPr>
          <a:xfrm>
            <a:off x="877824" y="4434840"/>
            <a:ext cx="4788392" cy="749808"/>
          </a:xfrm>
          <a:prstGeom prst="rect">
            <a:avLst/>
          </a:prstGeom>
          <a:noFill/>
        </p:spPr>
        <p:txBody>
          <a:bodyPr wrap="square" lIns="0" rIns="0" tIns="0" bIns="0" anchor="t">
            <a:spAutoFit/>
          </a:bodyPr>
          <a:lstStyle/>
          <a:p>
            <a:pPr algn="l"/>
            <a:r>
              <a:rPr sz="1050" b="0">
                <a:solidFill>
                  <a:srgbClr val="9A9CAB"/>
                </a:solidFill>
                <a:latin typeface="Segoe UI"/>
                <a:cs typeface="Segoe UI"/>
              </a:rPr>
              <a:t>Platform statistics live in silos, so weak topics stay invisible until an interview exposes them.</a:t>
            </a:r>
          </a:p>
        </p:txBody>
      </p:sp>
      <p:sp>
        <p:nvSpPr>
          <p:cNvPr id="25" name="Rounded Rectangle 24"/>
          <p:cNvSpPr/>
          <p:nvPr/>
        </p:nvSpPr>
        <p:spPr>
          <a:xfrm>
            <a:off x="6233144" y="3794760"/>
            <a:ext cx="5391896" cy="16002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33144" y="3995928"/>
            <a:ext cx="41148" cy="658368"/>
          </a:xfrm>
          <a:prstGeom prst="roundRect">
            <a:avLst>
              <a:gd name="adj" fmla="val 50000"/>
            </a:avLst>
          </a:prstGeom>
          <a:solidFill>
            <a:srgbClr val="9D3B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44040" y="4032504"/>
            <a:ext cx="4788392" cy="274320"/>
          </a:xfrm>
          <a:prstGeom prst="rect">
            <a:avLst/>
          </a:prstGeom>
          <a:noFill/>
        </p:spPr>
        <p:txBody>
          <a:bodyPr wrap="square" lIns="0" rIns="0" tIns="0" bIns="0" anchor="t">
            <a:spAutoFit/>
          </a:bodyPr>
          <a:lstStyle/>
          <a:p>
            <a:pPr algn="l"/>
            <a:r>
              <a:rPr sz="1300" b="1">
                <a:solidFill>
                  <a:srgbClr val="FFFFFF"/>
                </a:solidFill>
                <a:latin typeface="Segoe UI"/>
                <a:cs typeface="Segoe UI"/>
              </a:rPr>
              <a:t>Scattered placement material</a:t>
            </a:r>
          </a:p>
        </p:txBody>
      </p:sp>
      <p:sp>
        <p:nvSpPr>
          <p:cNvPr id="28" name="TextBox 27"/>
          <p:cNvSpPr txBox="1"/>
          <p:nvPr/>
        </p:nvSpPr>
        <p:spPr>
          <a:xfrm>
            <a:off x="6544040" y="4434840"/>
            <a:ext cx="4788392" cy="749808"/>
          </a:xfrm>
          <a:prstGeom prst="rect">
            <a:avLst/>
          </a:prstGeom>
          <a:noFill/>
        </p:spPr>
        <p:txBody>
          <a:bodyPr wrap="square" lIns="0" rIns="0" tIns="0" bIns="0" anchor="t">
            <a:spAutoFit/>
          </a:bodyPr>
          <a:lstStyle/>
          <a:p>
            <a:pPr algn="l"/>
            <a:r>
              <a:rPr sz="1050" b="0">
                <a:solidFill>
                  <a:srgbClr val="9A9CAB"/>
                </a:solidFill>
                <a:latin typeface="Segoe UI"/>
                <a:cs typeface="Segoe UI"/>
              </a:rPr>
              <a:t>Contests, hackathons, roadmaps, notes and interview preparation sit in unrelated tools and browser tabs.</a:t>
            </a:r>
          </a:p>
        </p:txBody>
      </p:sp>
      <p:sp>
        <p:nvSpPr>
          <p:cNvPr id="29" name="TextBox 28"/>
          <p:cNvSpPr txBox="1"/>
          <p:nvPr/>
        </p:nvSpPr>
        <p:spPr>
          <a:xfrm>
            <a:off x="566928" y="5559552"/>
            <a:ext cx="11058113" cy="384048"/>
          </a:xfrm>
          <a:prstGeom prst="rect">
            <a:avLst/>
          </a:prstGeom>
          <a:noFill/>
        </p:spPr>
        <p:txBody>
          <a:bodyPr wrap="square" lIns="0" rIns="0" tIns="0" bIns="0" anchor="t">
            <a:spAutoFit/>
          </a:bodyPr>
          <a:lstStyle/>
          <a:p>
            <a:pPr algn="l"/>
            <a:r>
              <a:rPr sz="1150" b="1">
                <a:solidFill>
                  <a:srgbClr val="4F8CFF"/>
                </a:solidFill>
                <a:latin typeface="Segoe UI"/>
                <a:cs typeface="Segoe UI"/>
              </a:rPr>
              <a:t>The gap: </a:t>
            </a:r>
            <a:r>
              <a:rPr sz="1150" b="0">
                <a:solidFill>
                  <a:srgbClr val="E8E9F0"/>
                </a:solidFill>
                <a:latin typeface="Segoe UI"/>
                <a:cs typeface="Segoe UI"/>
              </a:rPr>
              <a:t>students are already generating the data — it is simply never assembled into a picture they can act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03 · OBJECTIVES</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Six concrete objectives for version 1</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05</a:t>
            </a:r>
            <a:r>
              <a:rPr sz="850" b="0">
                <a:solidFill>
                  <a:srgbClr val="6B6D7C"/>
                </a:solidFill>
                <a:latin typeface="Segoe UI"/>
                <a:cs typeface="Segoe UI"/>
              </a:rPr>
              <a:t>  /  18</a:t>
            </a:r>
          </a:p>
        </p:txBody>
      </p:sp>
      <p:sp>
        <p:nvSpPr>
          <p:cNvPr id="13" name="Rounded Rectangle 12"/>
          <p:cNvSpPr/>
          <p:nvPr/>
        </p:nvSpPr>
        <p:spPr>
          <a:xfrm>
            <a:off x="566928" y="2011680"/>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212848"/>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01</a:t>
            </a:r>
          </a:p>
        </p:txBody>
      </p:sp>
      <p:sp>
        <p:nvSpPr>
          <p:cNvPr id="15" name="TextBox 14"/>
          <p:cNvSpPr txBox="1"/>
          <p:nvPr/>
        </p:nvSpPr>
        <p:spPr>
          <a:xfrm>
            <a:off x="822960" y="2523744"/>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Unify analytics</a:t>
            </a:r>
          </a:p>
        </p:txBody>
      </p:sp>
      <p:sp>
        <p:nvSpPr>
          <p:cNvPr id="16" name="TextBox 15"/>
          <p:cNvSpPr txBox="1"/>
          <p:nvPr/>
        </p:nvSpPr>
        <p:spPr>
          <a:xfrm>
            <a:off x="822960" y="2926080"/>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One dashboard for DSA progress, GitHub activity and contest performance.</a:t>
            </a:r>
          </a:p>
        </p:txBody>
      </p:sp>
      <p:sp>
        <p:nvSpPr>
          <p:cNvPr id="17" name="Rounded Rectangle 16"/>
          <p:cNvSpPr/>
          <p:nvPr/>
        </p:nvSpPr>
        <p:spPr>
          <a:xfrm>
            <a:off x="4332213" y="2011680"/>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8245" y="2212848"/>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02</a:t>
            </a:r>
          </a:p>
        </p:txBody>
      </p:sp>
      <p:sp>
        <p:nvSpPr>
          <p:cNvPr id="19" name="TextBox 18"/>
          <p:cNvSpPr txBox="1"/>
          <p:nvPr/>
        </p:nvSpPr>
        <p:spPr>
          <a:xfrm>
            <a:off x="4588245" y="2523744"/>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Auto-sync progress</a:t>
            </a:r>
          </a:p>
        </p:txBody>
      </p:sp>
      <p:sp>
        <p:nvSpPr>
          <p:cNvPr id="20" name="TextBox 19"/>
          <p:cNvSpPr txBox="1"/>
          <p:nvPr/>
        </p:nvSpPr>
        <p:spPr>
          <a:xfrm>
            <a:off x="4588245" y="2926080"/>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Connect a profile and statistics update themselves — no manual entry anywhere.</a:t>
            </a:r>
          </a:p>
        </p:txBody>
      </p:sp>
      <p:sp>
        <p:nvSpPr>
          <p:cNvPr id="21" name="Rounded Rectangle 20"/>
          <p:cNvSpPr/>
          <p:nvPr/>
        </p:nvSpPr>
        <p:spPr>
          <a:xfrm>
            <a:off x="8097499" y="2011680"/>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3531" y="2212848"/>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03</a:t>
            </a:r>
          </a:p>
        </p:txBody>
      </p:sp>
      <p:sp>
        <p:nvSpPr>
          <p:cNvPr id="23" name="TextBox 22"/>
          <p:cNvSpPr txBox="1"/>
          <p:nvPr/>
        </p:nvSpPr>
        <p:spPr>
          <a:xfrm>
            <a:off x="8353531" y="2523744"/>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Plan the work</a:t>
            </a:r>
          </a:p>
        </p:txBody>
      </p:sp>
      <p:sp>
        <p:nvSpPr>
          <p:cNvPr id="24" name="TextBox 23"/>
          <p:cNvSpPr txBox="1"/>
          <p:nvPr/>
        </p:nvSpPr>
        <p:spPr>
          <a:xfrm>
            <a:off x="8353531" y="2926080"/>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Goals, roadmaps and a daily plan derived from real activity.</a:t>
            </a:r>
          </a:p>
        </p:txBody>
      </p:sp>
      <p:sp>
        <p:nvSpPr>
          <p:cNvPr id="25" name="Rounded Rectangle 24"/>
          <p:cNvSpPr/>
          <p:nvPr/>
        </p:nvSpPr>
        <p:spPr>
          <a:xfrm>
            <a:off x="566928" y="3968496"/>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69663"/>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04</a:t>
            </a:r>
          </a:p>
        </p:txBody>
      </p:sp>
      <p:sp>
        <p:nvSpPr>
          <p:cNvPr id="27" name="TextBox 26"/>
          <p:cNvSpPr txBox="1"/>
          <p:nvPr/>
        </p:nvSpPr>
        <p:spPr>
          <a:xfrm>
            <a:off x="822960" y="4480560"/>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Surface opportunities</a:t>
            </a:r>
          </a:p>
        </p:txBody>
      </p:sp>
      <p:sp>
        <p:nvSpPr>
          <p:cNvPr id="28" name="TextBox 27"/>
          <p:cNvSpPr txBox="1"/>
          <p:nvPr/>
        </p:nvSpPr>
        <p:spPr>
          <a:xfrm>
            <a:off x="822960" y="4882896"/>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Contests and hackathons, searchable, filterable and bookmarkable.</a:t>
            </a:r>
          </a:p>
        </p:txBody>
      </p:sp>
      <p:sp>
        <p:nvSpPr>
          <p:cNvPr id="29" name="Rounded Rectangle 28"/>
          <p:cNvSpPr/>
          <p:nvPr/>
        </p:nvSpPr>
        <p:spPr>
          <a:xfrm>
            <a:off x="4332213" y="3968496"/>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8245" y="4169663"/>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05</a:t>
            </a:r>
          </a:p>
        </p:txBody>
      </p:sp>
      <p:sp>
        <p:nvSpPr>
          <p:cNvPr id="31" name="TextBox 30"/>
          <p:cNvSpPr txBox="1"/>
          <p:nvPr/>
        </p:nvSpPr>
        <p:spPr>
          <a:xfrm>
            <a:off x="4588245" y="4480560"/>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Centralise knowledge</a:t>
            </a:r>
          </a:p>
        </p:txBody>
      </p:sp>
      <p:sp>
        <p:nvSpPr>
          <p:cNvPr id="32" name="TextBox 31"/>
          <p:cNvSpPr txBox="1"/>
          <p:nvPr/>
        </p:nvSpPr>
        <p:spPr>
          <a:xfrm>
            <a:off x="4588245" y="4882896"/>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A notes vault and a categorised interview-preparation hub.</a:t>
            </a:r>
          </a:p>
        </p:txBody>
      </p:sp>
      <p:sp>
        <p:nvSpPr>
          <p:cNvPr id="33" name="Rounded Rectangle 32"/>
          <p:cNvSpPr/>
          <p:nvPr/>
        </p:nvSpPr>
        <p:spPr>
          <a:xfrm>
            <a:off x="8097499" y="3968496"/>
            <a:ext cx="3527541" cy="17556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53531" y="4169663"/>
            <a:ext cx="3015477" cy="237744"/>
          </a:xfrm>
          <a:prstGeom prst="rect">
            <a:avLst/>
          </a:prstGeom>
          <a:noFill/>
        </p:spPr>
        <p:txBody>
          <a:bodyPr wrap="square" lIns="0" rIns="0" tIns="0" bIns="0" anchor="t">
            <a:spAutoFit/>
          </a:bodyPr>
          <a:lstStyle/>
          <a:p>
            <a:pPr algn="l"/>
            <a:r>
              <a:rPr sz="1100" b="1">
                <a:solidFill>
                  <a:srgbClr val="4F8CFF"/>
                </a:solidFill>
                <a:latin typeface="Consolas"/>
                <a:cs typeface="Consolas"/>
              </a:rPr>
              <a:t>06</a:t>
            </a:r>
          </a:p>
        </p:txBody>
      </p:sp>
      <p:sp>
        <p:nvSpPr>
          <p:cNvPr id="35" name="TextBox 34"/>
          <p:cNvSpPr txBox="1"/>
          <p:nvPr/>
        </p:nvSpPr>
        <p:spPr>
          <a:xfrm>
            <a:off x="8353531" y="4480560"/>
            <a:ext cx="3015477" cy="310896"/>
          </a:xfrm>
          <a:prstGeom prst="rect">
            <a:avLst/>
          </a:prstGeom>
          <a:noFill/>
        </p:spPr>
        <p:txBody>
          <a:bodyPr wrap="square" lIns="0" rIns="0" tIns="0" bIns="0" anchor="t">
            <a:spAutoFit/>
          </a:bodyPr>
          <a:lstStyle/>
          <a:p>
            <a:pPr algn="l"/>
            <a:r>
              <a:rPr sz="1300" b="1">
                <a:solidFill>
                  <a:srgbClr val="FFFFFF"/>
                </a:solidFill>
                <a:latin typeface="Segoe UI"/>
                <a:cs typeface="Segoe UI"/>
              </a:rPr>
              <a:t>Be AI-ready</a:t>
            </a:r>
          </a:p>
        </p:txBody>
      </p:sp>
      <p:sp>
        <p:nvSpPr>
          <p:cNvPr id="36" name="TextBox 35"/>
          <p:cNvSpPr txBox="1"/>
          <p:nvPr/>
        </p:nvSpPr>
        <p:spPr>
          <a:xfrm>
            <a:off x="8353531" y="4882896"/>
            <a:ext cx="3015477" cy="694944"/>
          </a:xfrm>
          <a:prstGeom prst="rect">
            <a:avLst/>
          </a:prstGeom>
          <a:noFill/>
        </p:spPr>
        <p:txBody>
          <a:bodyPr wrap="square" lIns="0" rIns="0" tIns="0" bIns="0" anchor="t">
            <a:spAutoFit/>
          </a:bodyPr>
          <a:lstStyle/>
          <a:p>
            <a:pPr algn="l"/>
            <a:r>
              <a:rPr sz="1050" b="0">
                <a:solidFill>
                  <a:srgbClr val="9A9CAB"/>
                </a:solidFill>
                <a:latin typeface="Segoe UI"/>
                <a:cs typeface="Segoe UI"/>
              </a:rPr>
              <a:t>An architecture where recommendations need no rework to switch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04 · MOTIVE</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Why I am building this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06</a:t>
            </a:r>
            <a:r>
              <a:rPr sz="850" b="0">
                <a:solidFill>
                  <a:srgbClr val="6B6D7C"/>
                </a:solidFill>
                <a:latin typeface="Segoe UI"/>
                <a:cs typeface="Segoe UI"/>
              </a:rPr>
              <a:t>  /  18</a:t>
            </a:r>
          </a:p>
        </p:txBody>
      </p:sp>
      <p:sp>
        <p:nvSpPr>
          <p:cNvPr id="13" name="Rounded Rectangle 12"/>
          <p:cNvSpPr/>
          <p:nvPr/>
        </p:nvSpPr>
        <p:spPr>
          <a:xfrm>
            <a:off x="566928" y="2011680"/>
            <a:ext cx="3527541" cy="21031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33418" y="1060704"/>
            <a:ext cx="2194560" cy="2194560"/>
          </a:xfrm>
          <a:prstGeom prst="roundRect">
            <a:avLst>
              <a:gd name="adj" fmla="val 50000"/>
            </a:avLst>
          </a:prstGeom>
          <a:solidFill>
            <a:srgbClr val="2F7D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2267712"/>
            <a:ext cx="2978901" cy="512064"/>
          </a:xfrm>
          <a:prstGeom prst="rect">
            <a:avLst/>
          </a:prstGeom>
          <a:noFill/>
        </p:spPr>
        <p:txBody>
          <a:bodyPr wrap="square" lIns="0" rIns="0" tIns="0" bIns="0" anchor="t">
            <a:spAutoFit/>
          </a:bodyPr>
          <a:lstStyle/>
          <a:p>
            <a:pPr algn="l"/>
            <a:r>
              <a:rPr sz="1400" b="1">
                <a:solidFill>
                  <a:srgbClr val="FFFFFF"/>
                </a:solidFill>
                <a:latin typeface="Segoe UI"/>
                <a:cs typeface="Segoe UI"/>
              </a:rPr>
              <a:t>Built from the inside</a:t>
            </a:r>
          </a:p>
        </p:txBody>
      </p:sp>
      <p:sp>
        <p:nvSpPr>
          <p:cNvPr id="16" name="TextBox 15"/>
          <p:cNvSpPr txBox="1"/>
          <p:nvPr/>
        </p:nvSpPr>
        <p:spPr>
          <a:xfrm>
            <a:off x="841247" y="2926080"/>
            <a:ext cx="2978901" cy="1005840"/>
          </a:xfrm>
          <a:prstGeom prst="rect">
            <a:avLst/>
          </a:prstGeom>
          <a:noFill/>
        </p:spPr>
        <p:txBody>
          <a:bodyPr wrap="square" lIns="0" rIns="0" tIns="0" bIns="0" anchor="t">
            <a:spAutoFit/>
          </a:bodyPr>
          <a:lstStyle/>
          <a:p>
            <a:pPr algn="l"/>
            <a:r>
              <a:rPr sz="1050" b="0">
                <a:solidFill>
                  <a:srgbClr val="9A9CAB"/>
                </a:solidFill>
                <a:latin typeface="Segoe UI"/>
                <a:cs typeface="Segoe UI"/>
              </a:rPr>
              <a:t>As a 2nd-year CSE student preparing for placements, every problem in this deck is one I have hit myself.</a:t>
            </a:r>
          </a:p>
        </p:txBody>
      </p:sp>
      <p:sp>
        <p:nvSpPr>
          <p:cNvPr id="17" name="Rounded Rectangle 16"/>
          <p:cNvSpPr/>
          <p:nvPr/>
        </p:nvSpPr>
        <p:spPr>
          <a:xfrm>
            <a:off x="4332213" y="2011680"/>
            <a:ext cx="3527541" cy="21031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98704" y="1060704"/>
            <a:ext cx="2194560" cy="2194560"/>
          </a:xfrm>
          <a:prstGeom prst="roundRect">
            <a:avLst>
              <a:gd name="adj" fmla="val 50000"/>
            </a:avLst>
          </a:prstGeom>
          <a:solidFill>
            <a:srgbClr val="2F7D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6533" y="2267712"/>
            <a:ext cx="2978901" cy="512064"/>
          </a:xfrm>
          <a:prstGeom prst="rect">
            <a:avLst/>
          </a:prstGeom>
          <a:noFill/>
        </p:spPr>
        <p:txBody>
          <a:bodyPr wrap="square" lIns="0" rIns="0" tIns="0" bIns="0" anchor="t">
            <a:spAutoFit/>
          </a:bodyPr>
          <a:lstStyle/>
          <a:p>
            <a:pPr algn="l"/>
            <a:r>
              <a:rPr sz="1400" b="1">
                <a:solidFill>
                  <a:srgbClr val="FFFFFF"/>
                </a:solidFill>
                <a:latin typeface="Segoe UI"/>
                <a:cs typeface="Segoe UI"/>
              </a:rPr>
              <a:t>Practice without proof is invisible</a:t>
            </a:r>
          </a:p>
        </p:txBody>
      </p:sp>
      <p:sp>
        <p:nvSpPr>
          <p:cNvPr id="20" name="TextBox 19"/>
          <p:cNvSpPr txBox="1"/>
          <p:nvPr/>
        </p:nvSpPr>
        <p:spPr>
          <a:xfrm>
            <a:off x="4606533" y="2926080"/>
            <a:ext cx="2978901" cy="1005840"/>
          </a:xfrm>
          <a:prstGeom prst="rect">
            <a:avLst/>
          </a:prstGeom>
          <a:noFill/>
        </p:spPr>
        <p:txBody>
          <a:bodyPr wrap="square" lIns="0" rIns="0" tIns="0" bIns="0" anchor="t">
            <a:spAutoFit/>
          </a:bodyPr>
          <a:lstStyle/>
          <a:p>
            <a:pPr algn="l"/>
            <a:r>
              <a:rPr sz="1050" b="0">
                <a:solidFill>
                  <a:srgbClr val="9A9CAB"/>
                </a:solidFill>
                <a:latin typeface="Segoe UI"/>
                <a:cs typeface="Segoe UI"/>
              </a:rPr>
              <a:t>A recruiter sees a résumé, not the 300 problems behind it. Progress needs to be presentable.</a:t>
            </a:r>
          </a:p>
        </p:txBody>
      </p:sp>
      <p:sp>
        <p:nvSpPr>
          <p:cNvPr id="21" name="Rounded Rectangle 20"/>
          <p:cNvSpPr/>
          <p:nvPr/>
        </p:nvSpPr>
        <p:spPr>
          <a:xfrm>
            <a:off x="8097499" y="2011680"/>
            <a:ext cx="3527541" cy="21031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63990" y="1060704"/>
            <a:ext cx="2194560" cy="2194560"/>
          </a:xfrm>
          <a:prstGeom prst="roundRect">
            <a:avLst>
              <a:gd name="adj" fmla="val 50000"/>
            </a:avLst>
          </a:prstGeom>
          <a:solidFill>
            <a:srgbClr val="2F7D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1819" y="2267712"/>
            <a:ext cx="2978901" cy="512064"/>
          </a:xfrm>
          <a:prstGeom prst="rect">
            <a:avLst/>
          </a:prstGeom>
          <a:noFill/>
        </p:spPr>
        <p:txBody>
          <a:bodyPr wrap="square" lIns="0" rIns="0" tIns="0" bIns="0" anchor="t">
            <a:spAutoFit/>
          </a:bodyPr>
          <a:lstStyle/>
          <a:p>
            <a:pPr algn="l"/>
            <a:r>
              <a:rPr sz="1400" b="1">
                <a:solidFill>
                  <a:srgbClr val="FFFFFF"/>
                </a:solidFill>
                <a:latin typeface="Segoe UI"/>
                <a:cs typeface="Segoe UI"/>
              </a:rPr>
              <a:t>Consistency needs feedback</a:t>
            </a:r>
          </a:p>
        </p:txBody>
      </p:sp>
      <p:sp>
        <p:nvSpPr>
          <p:cNvPr id="24" name="TextBox 23"/>
          <p:cNvSpPr txBox="1"/>
          <p:nvPr/>
        </p:nvSpPr>
        <p:spPr>
          <a:xfrm>
            <a:off x="8371819" y="2926080"/>
            <a:ext cx="2978901" cy="1005840"/>
          </a:xfrm>
          <a:prstGeom prst="rect">
            <a:avLst/>
          </a:prstGeom>
          <a:noFill/>
        </p:spPr>
        <p:txBody>
          <a:bodyPr wrap="square" lIns="0" rIns="0" tIns="0" bIns="0" anchor="t">
            <a:spAutoFit/>
          </a:bodyPr>
          <a:lstStyle/>
          <a:p>
            <a:pPr algn="l"/>
            <a:r>
              <a:rPr sz="1050" b="0">
                <a:solidFill>
                  <a:srgbClr val="9A9CAB"/>
                </a:solidFill>
                <a:latin typeface="Segoe UI"/>
                <a:cs typeface="Segoe UI"/>
              </a:rPr>
              <a:t>Streaks, heatmaps and weekly analytics turn daily practice into something sustainable.</a:t>
            </a:r>
          </a:p>
        </p:txBody>
      </p:sp>
      <p:sp>
        <p:nvSpPr>
          <p:cNvPr id="25" name="Rounded Rectangle 24"/>
          <p:cNvSpPr/>
          <p:nvPr/>
        </p:nvSpPr>
        <p:spPr>
          <a:xfrm>
            <a:off x="566928" y="4389120"/>
            <a:ext cx="11058113" cy="1417320"/>
          </a:xfrm>
          <a:prstGeom prst="roundRect">
            <a:avLst>
              <a:gd name="adj" fmla="val 9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85216" y="4517136"/>
            <a:ext cx="45720" cy="1143000"/>
          </a:xfrm>
          <a:prstGeom prst="roundRect">
            <a:avLst>
              <a:gd name="adj" fmla="val 50000"/>
            </a:avLst>
          </a:prstGeom>
          <a:solidFill>
            <a:srgbClr val="9D3B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416" y="4626864"/>
            <a:ext cx="10052273" cy="548640"/>
          </a:xfrm>
          <a:prstGeom prst="rect">
            <a:avLst/>
          </a:prstGeom>
          <a:noFill/>
        </p:spPr>
        <p:txBody>
          <a:bodyPr wrap="square" lIns="0" rIns="0" tIns="0" bIns="0" anchor="t">
            <a:spAutoFit/>
          </a:bodyPr>
          <a:lstStyle/>
          <a:p>
            <a:pPr algn="l"/>
            <a:r>
              <a:rPr sz="1600" b="1">
                <a:solidFill>
                  <a:srgbClr val="E8E9F0"/>
                </a:solidFill>
                <a:latin typeface="Segoe UI"/>
                <a:cs typeface="Segoe UI"/>
              </a:rPr>
              <a:t>“The problem was never a lack of effort — it was never having one place to see it.”</a:t>
            </a:r>
          </a:p>
        </p:txBody>
      </p:sp>
      <p:sp>
        <p:nvSpPr>
          <p:cNvPr id="28" name="TextBox 27"/>
          <p:cNvSpPr txBox="1"/>
          <p:nvPr/>
        </p:nvSpPr>
        <p:spPr>
          <a:xfrm>
            <a:off x="1042416" y="5248656"/>
            <a:ext cx="10052273" cy="274320"/>
          </a:xfrm>
          <a:prstGeom prst="rect">
            <a:avLst/>
          </a:prstGeom>
          <a:noFill/>
        </p:spPr>
        <p:txBody>
          <a:bodyPr wrap="square" lIns="0" rIns="0" tIns="0" bIns="0" anchor="t">
            <a:spAutoFit/>
          </a:bodyPr>
          <a:lstStyle/>
          <a:p>
            <a:pPr algn="l"/>
            <a:r>
              <a:rPr sz="1100" b="0">
                <a:solidFill>
                  <a:srgbClr val="9A9CAB"/>
                </a:solidFill>
                <a:latin typeface="Segoe UI"/>
                <a:cs typeface="Segoe UI"/>
              </a:rPr>
              <a:t>That sentence is the whole product requirement.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05 · TECHNOLOGY STACK</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Chosen for the job each layer actually does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07</a:t>
            </a:r>
            <a:r>
              <a:rPr sz="850" b="0">
                <a:solidFill>
                  <a:srgbClr val="6B6D7C"/>
                </a:solidFill>
                <a:latin typeface="Segoe UI"/>
                <a:cs typeface="Segoe UI"/>
              </a:rPr>
              <a:t>  /  18</a:t>
            </a:r>
          </a:p>
        </p:txBody>
      </p:sp>
      <p:sp>
        <p:nvSpPr>
          <p:cNvPr id="13" name="Rounded Rectangle 12"/>
          <p:cNvSpPr/>
          <p:nvPr/>
        </p:nvSpPr>
        <p:spPr>
          <a:xfrm>
            <a:off x="566928" y="2011680"/>
            <a:ext cx="2613652" cy="39319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2231136"/>
            <a:ext cx="91440" cy="91440"/>
          </a:xfrm>
          <a:prstGeom prst="ellipse">
            <a:avLst/>
          </a:prstGeom>
          <a:solidFill>
            <a:srgbClr val="2F7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157984"/>
            <a:ext cx="1991860" cy="256032"/>
          </a:xfrm>
          <a:prstGeom prst="rect">
            <a:avLst/>
          </a:prstGeom>
          <a:noFill/>
        </p:spPr>
        <p:txBody>
          <a:bodyPr wrap="square" lIns="0" rIns="0" tIns="0" bIns="0" anchor="t">
            <a:spAutoFit/>
          </a:bodyPr>
          <a:lstStyle/>
          <a:p>
            <a:pPr algn="l"/>
            <a:r>
              <a:rPr sz="1350" b="1">
                <a:solidFill>
                  <a:srgbClr val="FFFFFF"/>
                </a:solidFill>
                <a:latin typeface="Segoe UI"/>
                <a:cs typeface="Segoe UI"/>
              </a:rPr>
              <a:t>Frontend</a:t>
            </a:r>
          </a:p>
        </p:txBody>
      </p:sp>
      <p:sp>
        <p:nvSpPr>
          <p:cNvPr id="16" name="Rectangle 15"/>
          <p:cNvSpPr/>
          <p:nvPr/>
        </p:nvSpPr>
        <p:spPr>
          <a:xfrm>
            <a:off x="786384" y="2505456"/>
            <a:ext cx="2174740" cy="10972"/>
          </a:xfrm>
          <a:prstGeom prst="rect">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6384" y="2651760"/>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651760"/>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React 19</a:t>
            </a:r>
          </a:p>
        </p:txBody>
      </p:sp>
      <p:sp>
        <p:nvSpPr>
          <p:cNvPr id="19" name="Rounded Rectangle 18"/>
          <p:cNvSpPr/>
          <p:nvPr/>
        </p:nvSpPr>
        <p:spPr>
          <a:xfrm>
            <a:off x="786384" y="2967228"/>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967228"/>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Vite 8</a:t>
            </a:r>
          </a:p>
        </p:txBody>
      </p:sp>
      <p:sp>
        <p:nvSpPr>
          <p:cNvPr id="21" name="Rounded Rectangle 20"/>
          <p:cNvSpPr/>
          <p:nvPr/>
        </p:nvSpPr>
        <p:spPr>
          <a:xfrm>
            <a:off x="786384" y="3282696"/>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282696"/>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TypeScript</a:t>
            </a:r>
          </a:p>
        </p:txBody>
      </p:sp>
      <p:sp>
        <p:nvSpPr>
          <p:cNvPr id="23" name="Rounded Rectangle 22"/>
          <p:cNvSpPr/>
          <p:nvPr/>
        </p:nvSpPr>
        <p:spPr>
          <a:xfrm>
            <a:off x="786384" y="3598163"/>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598163"/>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Tailwind CSS v4</a:t>
            </a:r>
          </a:p>
        </p:txBody>
      </p:sp>
      <p:sp>
        <p:nvSpPr>
          <p:cNvPr id="25" name="Rounded Rectangle 24"/>
          <p:cNvSpPr/>
          <p:nvPr/>
        </p:nvSpPr>
        <p:spPr>
          <a:xfrm>
            <a:off x="786384" y="3913631"/>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3913631"/>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React Router 7</a:t>
            </a:r>
          </a:p>
        </p:txBody>
      </p:sp>
      <p:sp>
        <p:nvSpPr>
          <p:cNvPr id="27" name="Rounded Rectangle 26"/>
          <p:cNvSpPr/>
          <p:nvPr/>
        </p:nvSpPr>
        <p:spPr>
          <a:xfrm>
            <a:off x="786384" y="4229099"/>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4229099"/>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Framer Motion</a:t>
            </a:r>
          </a:p>
        </p:txBody>
      </p:sp>
      <p:sp>
        <p:nvSpPr>
          <p:cNvPr id="29" name="Rounded Rectangle 28"/>
          <p:cNvSpPr/>
          <p:nvPr/>
        </p:nvSpPr>
        <p:spPr>
          <a:xfrm>
            <a:off x="786384" y="4544567"/>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4544567"/>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Recharts</a:t>
            </a:r>
          </a:p>
        </p:txBody>
      </p:sp>
      <p:sp>
        <p:nvSpPr>
          <p:cNvPr id="31" name="Rounded Rectangle 30"/>
          <p:cNvSpPr/>
          <p:nvPr/>
        </p:nvSpPr>
        <p:spPr>
          <a:xfrm>
            <a:off x="786384" y="4860035"/>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4860035"/>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lucide-react</a:t>
            </a:r>
          </a:p>
        </p:txBody>
      </p:sp>
      <p:sp>
        <p:nvSpPr>
          <p:cNvPr id="33" name="TextBox 32"/>
          <p:cNvSpPr txBox="1"/>
          <p:nvPr/>
        </p:nvSpPr>
        <p:spPr>
          <a:xfrm>
            <a:off x="786384" y="5047488"/>
            <a:ext cx="2174740" cy="786384"/>
          </a:xfrm>
          <a:prstGeom prst="rect">
            <a:avLst/>
          </a:prstGeom>
          <a:noFill/>
        </p:spPr>
        <p:txBody>
          <a:bodyPr wrap="square" lIns="0" rIns="0" tIns="0" bIns="0" anchor="t">
            <a:spAutoFit/>
          </a:bodyPr>
          <a:lstStyle/>
          <a:p>
            <a:pPr algn="l"/>
            <a:r>
              <a:rPr sz="950" b="0">
                <a:solidFill>
                  <a:srgbClr val="9A9CAB"/>
                </a:solidFill>
                <a:latin typeface="Segoe UI"/>
                <a:cs typeface="Segoe UI"/>
              </a:rPr>
              <a:t>Type-safe SPA with a component model that keeps 11 feature screens maintainable.</a:t>
            </a:r>
          </a:p>
        </p:txBody>
      </p:sp>
      <p:sp>
        <p:nvSpPr>
          <p:cNvPr id="34" name="Rounded Rectangle 33"/>
          <p:cNvSpPr/>
          <p:nvPr/>
        </p:nvSpPr>
        <p:spPr>
          <a:xfrm>
            <a:off x="3381748" y="2011680"/>
            <a:ext cx="2613652" cy="39319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01204" y="2231136"/>
            <a:ext cx="91440" cy="91440"/>
          </a:xfrm>
          <a:prstGeom prst="ellipse">
            <a:avLst/>
          </a:prstGeom>
          <a:solidFill>
            <a:srgbClr val="9D3B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84084" y="2157984"/>
            <a:ext cx="1991860" cy="256032"/>
          </a:xfrm>
          <a:prstGeom prst="rect">
            <a:avLst/>
          </a:prstGeom>
          <a:noFill/>
        </p:spPr>
        <p:txBody>
          <a:bodyPr wrap="square" lIns="0" rIns="0" tIns="0" bIns="0" anchor="t">
            <a:spAutoFit/>
          </a:bodyPr>
          <a:lstStyle/>
          <a:p>
            <a:pPr algn="l"/>
            <a:r>
              <a:rPr sz="1350" b="1">
                <a:solidFill>
                  <a:srgbClr val="FFFFFF"/>
                </a:solidFill>
                <a:latin typeface="Segoe UI"/>
                <a:cs typeface="Segoe UI"/>
              </a:rPr>
              <a:t>Backend</a:t>
            </a:r>
          </a:p>
        </p:txBody>
      </p:sp>
      <p:sp>
        <p:nvSpPr>
          <p:cNvPr id="37" name="Rectangle 36"/>
          <p:cNvSpPr/>
          <p:nvPr/>
        </p:nvSpPr>
        <p:spPr>
          <a:xfrm>
            <a:off x="3601204" y="2505456"/>
            <a:ext cx="2174740" cy="10972"/>
          </a:xfrm>
          <a:prstGeom prst="rect">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601204" y="2651760"/>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01204" y="2651760"/>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Java 21</a:t>
            </a:r>
          </a:p>
        </p:txBody>
      </p:sp>
      <p:sp>
        <p:nvSpPr>
          <p:cNvPr id="40" name="Rounded Rectangle 39"/>
          <p:cNvSpPr/>
          <p:nvPr/>
        </p:nvSpPr>
        <p:spPr>
          <a:xfrm>
            <a:off x="3601204" y="2967228"/>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01204" y="2967228"/>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Spring Boot 4.1</a:t>
            </a:r>
          </a:p>
        </p:txBody>
      </p:sp>
      <p:sp>
        <p:nvSpPr>
          <p:cNvPr id="42" name="Rounded Rectangle 41"/>
          <p:cNvSpPr/>
          <p:nvPr/>
        </p:nvSpPr>
        <p:spPr>
          <a:xfrm>
            <a:off x="3601204" y="3282696"/>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01204" y="3282696"/>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Spring Security</a:t>
            </a:r>
          </a:p>
        </p:txBody>
      </p:sp>
      <p:sp>
        <p:nvSpPr>
          <p:cNvPr id="44" name="Rounded Rectangle 43"/>
          <p:cNvSpPr/>
          <p:nvPr/>
        </p:nvSpPr>
        <p:spPr>
          <a:xfrm>
            <a:off x="3601204" y="3598163"/>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01204" y="3598163"/>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JWT (HS256)</a:t>
            </a:r>
          </a:p>
        </p:txBody>
      </p:sp>
      <p:sp>
        <p:nvSpPr>
          <p:cNvPr id="46" name="Rounded Rectangle 45"/>
          <p:cNvSpPr/>
          <p:nvPr/>
        </p:nvSpPr>
        <p:spPr>
          <a:xfrm>
            <a:off x="3601204" y="3913631"/>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01204" y="3913631"/>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Spring Data JPA</a:t>
            </a:r>
          </a:p>
        </p:txBody>
      </p:sp>
      <p:sp>
        <p:nvSpPr>
          <p:cNvPr id="48" name="Rounded Rectangle 47"/>
          <p:cNvSpPr/>
          <p:nvPr/>
        </p:nvSpPr>
        <p:spPr>
          <a:xfrm>
            <a:off x="3601204" y="4229099"/>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01204" y="4229099"/>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Bean Validation</a:t>
            </a:r>
          </a:p>
        </p:txBody>
      </p:sp>
      <p:sp>
        <p:nvSpPr>
          <p:cNvPr id="50" name="Rounded Rectangle 49"/>
          <p:cNvSpPr/>
          <p:nvPr/>
        </p:nvSpPr>
        <p:spPr>
          <a:xfrm>
            <a:off x="3601204" y="4544567"/>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01204" y="4544567"/>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Flyway</a:t>
            </a:r>
          </a:p>
        </p:txBody>
      </p:sp>
      <p:sp>
        <p:nvSpPr>
          <p:cNvPr id="52" name="Rounded Rectangle 51"/>
          <p:cNvSpPr/>
          <p:nvPr/>
        </p:nvSpPr>
        <p:spPr>
          <a:xfrm>
            <a:off x="3601204" y="4860035"/>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01204" y="4860035"/>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Maven</a:t>
            </a:r>
          </a:p>
        </p:txBody>
      </p:sp>
      <p:sp>
        <p:nvSpPr>
          <p:cNvPr id="54" name="TextBox 53"/>
          <p:cNvSpPr txBox="1"/>
          <p:nvPr/>
        </p:nvSpPr>
        <p:spPr>
          <a:xfrm>
            <a:off x="3601204" y="5047488"/>
            <a:ext cx="2174740" cy="786384"/>
          </a:xfrm>
          <a:prstGeom prst="rect">
            <a:avLst/>
          </a:prstGeom>
          <a:noFill/>
        </p:spPr>
        <p:txBody>
          <a:bodyPr wrap="square" lIns="0" rIns="0" tIns="0" bIns="0" anchor="t">
            <a:spAutoFit/>
          </a:bodyPr>
          <a:lstStyle/>
          <a:p>
            <a:pPr algn="l"/>
            <a:r>
              <a:rPr sz="950" b="0">
                <a:solidFill>
                  <a:srgbClr val="9A9CAB"/>
                </a:solidFill>
                <a:latin typeface="Segoe UI"/>
                <a:cs typeface="Segoe UI"/>
              </a:rPr>
              <a:t>Batteries-included REST API: dependency injection, security and transactions built in.</a:t>
            </a:r>
          </a:p>
        </p:txBody>
      </p:sp>
      <p:sp>
        <p:nvSpPr>
          <p:cNvPr id="55" name="Rounded Rectangle 54"/>
          <p:cNvSpPr/>
          <p:nvPr/>
        </p:nvSpPr>
        <p:spPr>
          <a:xfrm>
            <a:off x="6196568" y="2011680"/>
            <a:ext cx="2613652" cy="39319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416024" y="2231136"/>
            <a:ext cx="91440" cy="91440"/>
          </a:xfrm>
          <a:prstGeom prst="ellipse">
            <a:avLst/>
          </a:prstGeom>
          <a:solidFill>
            <a:srgbClr val="7FD4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98904" y="2157984"/>
            <a:ext cx="1991860" cy="256032"/>
          </a:xfrm>
          <a:prstGeom prst="rect">
            <a:avLst/>
          </a:prstGeom>
          <a:noFill/>
        </p:spPr>
        <p:txBody>
          <a:bodyPr wrap="square" lIns="0" rIns="0" tIns="0" bIns="0" anchor="t">
            <a:spAutoFit/>
          </a:bodyPr>
          <a:lstStyle/>
          <a:p>
            <a:pPr algn="l"/>
            <a:r>
              <a:rPr sz="1350" b="1">
                <a:solidFill>
                  <a:srgbClr val="FFFFFF"/>
                </a:solidFill>
                <a:latin typeface="Segoe UI"/>
                <a:cs typeface="Segoe UI"/>
              </a:rPr>
              <a:t>Data</a:t>
            </a:r>
          </a:p>
        </p:txBody>
      </p:sp>
      <p:sp>
        <p:nvSpPr>
          <p:cNvPr id="58" name="Rectangle 57"/>
          <p:cNvSpPr/>
          <p:nvPr/>
        </p:nvSpPr>
        <p:spPr>
          <a:xfrm>
            <a:off x="6416024" y="2505456"/>
            <a:ext cx="2174740" cy="10972"/>
          </a:xfrm>
          <a:prstGeom prst="rect">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416024" y="2651760"/>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16024" y="2651760"/>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PostgreSQL 17 (Neon)</a:t>
            </a:r>
          </a:p>
        </p:txBody>
      </p:sp>
      <p:sp>
        <p:nvSpPr>
          <p:cNvPr id="61" name="Rounded Rectangle 60"/>
          <p:cNvSpPr/>
          <p:nvPr/>
        </p:nvSpPr>
        <p:spPr>
          <a:xfrm>
            <a:off x="6416024" y="2967228"/>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16024" y="2967228"/>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Hibernate · validate</a:t>
            </a:r>
          </a:p>
        </p:txBody>
      </p:sp>
      <p:sp>
        <p:nvSpPr>
          <p:cNvPr id="63" name="Rounded Rectangle 62"/>
          <p:cNvSpPr/>
          <p:nvPr/>
        </p:nvSpPr>
        <p:spPr>
          <a:xfrm>
            <a:off x="6416024" y="3282696"/>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16024" y="3282696"/>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23 tables</a:t>
            </a:r>
          </a:p>
        </p:txBody>
      </p:sp>
      <p:sp>
        <p:nvSpPr>
          <p:cNvPr id="65" name="Rounded Rectangle 64"/>
          <p:cNvSpPr/>
          <p:nvPr/>
        </p:nvSpPr>
        <p:spPr>
          <a:xfrm>
            <a:off x="6416024" y="3598163"/>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16024" y="3598163"/>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Flyway V1 + V2</a:t>
            </a:r>
          </a:p>
        </p:txBody>
      </p:sp>
      <p:sp>
        <p:nvSpPr>
          <p:cNvPr id="67" name="Rounded Rectangle 66"/>
          <p:cNvSpPr/>
          <p:nvPr/>
        </p:nvSpPr>
        <p:spPr>
          <a:xfrm>
            <a:off x="6416024" y="3913631"/>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16024" y="3913631"/>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127 seed rows</a:t>
            </a:r>
          </a:p>
        </p:txBody>
      </p:sp>
      <p:sp>
        <p:nvSpPr>
          <p:cNvPr id="69" name="Rounded Rectangle 68"/>
          <p:cNvSpPr/>
          <p:nvPr/>
        </p:nvSpPr>
        <p:spPr>
          <a:xfrm>
            <a:off x="6416024" y="4229099"/>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16024" y="4229099"/>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HikariCP pooling</a:t>
            </a:r>
          </a:p>
        </p:txBody>
      </p:sp>
      <p:sp>
        <p:nvSpPr>
          <p:cNvPr id="71" name="Rounded Rectangle 70"/>
          <p:cNvSpPr/>
          <p:nvPr/>
        </p:nvSpPr>
        <p:spPr>
          <a:xfrm>
            <a:off x="6416024" y="4544567"/>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16024" y="4544567"/>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TIMESTAMPTZ (UTC)</a:t>
            </a:r>
          </a:p>
        </p:txBody>
      </p:sp>
      <p:sp>
        <p:nvSpPr>
          <p:cNvPr id="73" name="Rounded Rectangle 72"/>
          <p:cNvSpPr/>
          <p:nvPr/>
        </p:nvSpPr>
        <p:spPr>
          <a:xfrm>
            <a:off x="6416024" y="4860035"/>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16024" y="4860035"/>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JSONB snapshots</a:t>
            </a:r>
          </a:p>
        </p:txBody>
      </p:sp>
      <p:sp>
        <p:nvSpPr>
          <p:cNvPr id="75" name="TextBox 74"/>
          <p:cNvSpPr txBox="1"/>
          <p:nvPr/>
        </p:nvSpPr>
        <p:spPr>
          <a:xfrm>
            <a:off x="6416024" y="5047488"/>
            <a:ext cx="2174740" cy="786384"/>
          </a:xfrm>
          <a:prstGeom prst="rect">
            <a:avLst/>
          </a:prstGeom>
          <a:noFill/>
        </p:spPr>
        <p:txBody>
          <a:bodyPr wrap="square" lIns="0" rIns="0" tIns="0" bIns="0" anchor="t">
            <a:spAutoFit/>
          </a:bodyPr>
          <a:lstStyle/>
          <a:p>
            <a:pPr algn="l"/>
            <a:r>
              <a:rPr sz="950" b="0">
                <a:solidFill>
                  <a:srgbClr val="9A9CAB"/>
                </a:solidFill>
                <a:latin typeface="Segoe UI"/>
                <a:cs typeface="Segoe UI"/>
              </a:rPr>
              <a:t>Managed Postgres with branching and scale-to-zero; Flyway owns every schema change.</a:t>
            </a:r>
          </a:p>
        </p:txBody>
      </p:sp>
      <p:sp>
        <p:nvSpPr>
          <p:cNvPr id="76" name="Rounded Rectangle 75"/>
          <p:cNvSpPr/>
          <p:nvPr/>
        </p:nvSpPr>
        <p:spPr>
          <a:xfrm>
            <a:off x="9011389" y="2011680"/>
            <a:ext cx="2613652" cy="39319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230845" y="2231136"/>
            <a:ext cx="91440" cy="9144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13725" y="2157984"/>
            <a:ext cx="1991860" cy="256032"/>
          </a:xfrm>
          <a:prstGeom prst="rect">
            <a:avLst/>
          </a:prstGeom>
          <a:noFill/>
        </p:spPr>
        <p:txBody>
          <a:bodyPr wrap="square" lIns="0" rIns="0" tIns="0" bIns="0" anchor="t">
            <a:spAutoFit/>
          </a:bodyPr>
          <a:lstStyle/>
          <a:p>
            <a:pPr algn="l"/>
            <a:r>
              <a:rPr sz="1350" b="1">
                <a:solidFill>
                  <a:srgbClr val="FFFFFF"/>
                </a:solidFill>
                <a:latin typeface="Segoe UI"/>
                <a:cs typeface="Segoe UI"/>
              </a:rPr>
              <a:t>Delivery</a:t>
            </a:r>
          </a:p>
        </p:txBody>
      </p:sp>
      <p:sp>
        <p:nvSpPr>
          <p:cNvPr id="79" name="Rectangle 78"/>
          <p:cNvSpPr/>
          <p:nvPr/>
        </p:nvSpPr>
        <p:spPr>
          <a:xfrm>
            <a:off x="9230845" y="2505456"/>
            <a:ext cx="2174740" cy="10972"/>
          </a:xfrm>
          <a:prstGeom prst="rect">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9230845" y="2651760"/>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30845" y="2651760"/>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Docker (multi-stage)</a:t>
            </a:r>
          </a:p>
        </p:txBody>
      </p:sp>
      <p:sp>
        <p:nvSpPr>
          <p:cNvPr id="82" name="Rounded Rectangle 81"/>
          <p:cNvSpPr/>
          <p:nvPr/>
        </p:nvSpPr>
        <p:spPr>
          <a:xfrm>
            <a:off x="9230845" y="2967228"/>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230845" y="2967228"/>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GitHub Actions CI</a:t>
            </a:r>
          </a:p>
        </p:txBody>
      </p:sp>
      <p:sp>
        <p:nvSpPr>
          <p:cNvPr id="84" name="Rounded Rectangle 83"/>
          <p:cNvSpPr/>
          <p:nvPr/>
        </p:nvSpPr>
        <p:spPr>
          <a:xfrm>
            <a:off x="9230845" y="3282696"/>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30845" y="3282696"/>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Render (API)</a:t>
            </a:r>
          </a:p>
        </p:txBody>
      </p:sp>
      <p:sp>
        <p:nvSpPr>
          <p:cNvPr id="86" name="Rounded Rectangle 85"/>
          <p:cNvSpPr/>
          <p:nvPr/>
        </p:nvSpPr>
        <p:spPr>
          <a:xfrm>
            <a:off x="9230845" y="3598163"/>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230845" y="3598163"/>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Vercel (SPA)</a:t>
            </a:r>
          </a:p>
        </p:txBody>
      </p:sp>
      <p:sp>
        <p:nvSpPr>
          <p:cNvPr id="88" name="Rounded Rectangle 87"/>
          <p:cNvSpPr/>
          <p:nvPr/>
        </p:nvSpPr>
        <p:spPr>
          <a:xfrm>
            <a:off x="9230845" y="3913631"/>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30845" y="3913631"/>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Actuator health</a:t>
            </a:r>
          </a:p>
        </p:txBody>
      </p:sp>
      <p:sp>
        <p:nvSpPr>
          <p:cNvPr id="90" name="Rounded Rectangle 89"/>
          <p:cNvSpPr/>
          <p:nvPr/>
        </p:nvSpPr>
        <p:spPr>
          <a:xfrm>
            <a:off x="9230845" y="4229099"/>
            <a:ext cx="2174740" cy="26517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230845" y="4229099"/>
            <a:ext cx="2174740" cy="265176"/>
          </a:xfrm>
          <a:prstGeom prst="rect">
            <a:avLst/>
          </a:prstGeom>
          <a:noFill/>
        </p:spPr>
        <p:txBody>
          <a:bodyPr wrap="square" lIns="0" rIns="0" tIns="0" bIns="0" anchor="ctr">
            <a:spAutoFit/>
          </a:bodyPr>
          <a:lstStyle/>
          <a:p>
            <a:pPr algn="ctr"/>
            <a:r>
              <a:rPr sz="950" b="0">
                <a:solidFill>
                  <a:srgbClr val="E8E9F0"/>
                </a:solidFill>
                <a:latin typeface="Segoe UI"/>
                <a:cs typeface="Segoe UI"/>
              </a:rPr>
              <a:t>Neon pooled URL</a:t>
            </a:r>
          </a:p>
        </p:txBody>
      </p:sp>
      <p:sp>
        <p:nvSpPr>
          <p:cNvPr id="92" name="TextBox 91"/>
          <p:cNvSpPr txBox="1"/>
          <p:nvPr/>
        </p:nvSpPr>
        <p:spPr>
          <a:xfrm>
            <a:off x="9230845" y="5047488"/>
            <a:ext cx="2174740" cy="786384"/>
          </a:xfrm>
          <a:prstGeom prst="rect">
            <a:avLst/>
          </a:prstGeom>
          <a:noFill/>
        </p:spPr>
        <p:txBody>
          <a:bodyPr wrap="square" lIns="0" rIns="0" tIns="0" bIns="0" anchor="t">
            <a:spAutoFit/>
          </a:bodyPr>
          <a:lstStyle/>
          <a:p>
            <a:pPr algn="l"/>
            <a:r>
              <a:rPr sz="950" b="0">
                <a:solidFill>
                  <a:srgbClr val="9A9CAB"/>
                </a:solidFill>
                <a:latin typeface="Segoe UI"/>
                <a:cs typeface="Segoe UI"/>
              </a:rPr>
              <a:t>Both halves deploy from main; a free-tier stack that still mirrors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06 · SYSTEM ARCHITECTURE</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Three tiers, one contract</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08</a:t>
            </a:r>
            <a:r>
              <a:rPr sz="850" b="0">
                <a:solidFill>
                  <a:srgbClr val="6B6D7C"/>
                </a:solidFill>
                <a:latin typeface="Segoe UI"/>
                <a:cs typeface="Segoe UI"/>
              </a:rPr>
              <a:t>  /  18</a:t>
            </a:r>
          </a:p>
        </p:txBody>
      </p:sp>
      <p:sp>
        <p:nvSpPr>
          <p:cNvPr id="13" name="Rounded Rectangle 12"/>
          <p:cNvSpPr/>
          <p:nvPr/>
        </p:nvSpPr>
        <p:spPr>
          <a:xfrm>
            <a:off x="566928" y="2011680"/>
            <a:ext cx="7589520" cy="93268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121408"/>
            <a:ext cx="7077456" cy="237744"/>
          </a:xfrm>
          <a:prstGeom prst="rect">
            <a:avLst/>
          </a:prstGeom>
          <a:noFill/>
        </p:spPr>
        <p:txBody>
          <a:bodyPr wrap="square" lIns="0" rIns="0" tIns="0" bIns="0" anchor="t">
            <a:spAutoFit/>
          </a:bodyPr>
          <a:lstStyle/>
          <a:p>
            <a:pPr algn="l"/>
            <a:r>
              <a:rPr sz="900" b="1" spc="140">
                <a:solidFill>
                  <a:srgbClr val="4F8CFF"/>
                </a:solidFill>
                <a:latin typeface="Segoe UI"/>
                <a:cs typeface="Segoe UI"/>
              </a:rPr>
              <a:t>CLIENT</a:t>
            </a:r>
          </a:p>
        </p:txBody>
      </p:sp>
      <p:sp>
        <p:nvSpPr>
          <p:cNvPr id="15" name="TextBox 14"/>
          <p:cNvSpPr txBox="1"/>
          <p:nvPr/>
        </p:nvSpPr>
        <p:spPr>
          <a:xfrm>
            <a:off x="822960" y="2359152"/>
            <a:ext cx="2926080" cy="237744"/>
          </a:xfrm>
          <a:prstGeom prst="rect">
            <a:avLst/>
          </a:prstGeom>
          <a:noFill/>
        </p:spPr>
        <p:txBody>
          <a:bodyPr wrap="square" lIns="0" rIns="0" tIns="0" bIns="0" anchor="t">
            <a:spAutoFit/>
          </a:bodyPr>
          <a:lstStyle/>
          <a:p>
            <a:pPr algn="l"/>
            <a:r>
              <a:rPr sz="1300" b="1">
                <a:solidFill>
                  <a:srgbClr val="FFFFFF"/>
                </a:solidFill>
                <a:latin typeface="Segoe UI"/>
                <a:cs typeface="Segoe UI"/>
              </a:rPr>
              <a:t>React 19 SPA</a:t>
            </a:r>
          </a:p>
        </p:txBody>
      </p:sp>
      <p:sp>
        <p:nvSpPr>
          <p:cNvPr id="16" name="Rounded Rectangle 15"/>
          <p:cNvSpPr/>
          <p:nvPr/>
        </p:nvSpPr>
        <p:spPr>
          <a:xfrm>
            <a:off x="3950208" y="2359152"/>
            <a:ext cx="129844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50208" y="2359152"/>
            <a:ext cx="129844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Route guards</a:t>
            </a:r>
          </a:p>
        </p:txBody>
      </p:sp>
      <p:sp>
        <p:nvSpPr>
          <p:cNvPr id="18" name="Rounded Rectangle 17"/>
          <p:cNvSpPr/>
          <p:nvPr/>
        </p:nvSpPr>
        <p:spPr>
          <a:xfrm>
            <a:off x="5321808" y="2359152"/>
            <a:ext cx="129844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21808" y="2359152"/>
            <a:ext cx="129844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fetch client + auto-refresh</a:t>
            </a:r>
          </a:p>
        </p:txBody>
      </p:sp>
      <p:sp>
        <p:nvSpPr>
          <p:cNvPr id="20" name="Rounded Rectangle 19"/>
          <p:cNvSpPr/>
          <p:nvPr/>
        </p:nvSpPr>
        <p:spPr>
          <a:xfrm>
            <a:off x="6693408" y="2359152"/>
            <a:ext cx="129844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8" y="2359152"/>
            <a:ext cx="129844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Recharts · Framer Motion</a:t>
            </a:r>
          </a:p>
        </p:txBody>
      </p:sp>
      <p:sp>
        <p:nvSpPr>
          <p:cNvPr id="22" name="Down Arrow 21"/>
          <p:cNvSpPr/>
          <p:nvPr/>
        </p:nvSpPr>
        <p:spPr>
          <a:xfrm>
            <a:off x="4233672" y="2999232"/>
            <a:ext cx="256032" cy="256032"/>
          </a:xfrm>
          <a:prstGeom prst="down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81144" y="2962656"/>
            <a:ext cx="3291840" cy="237744"/>
          </a:xfrm>
          <a:prstGeom prst="rect">
            <a:avLst/>
          </a:prstGeom>
          <a:noFill/>
        </p:spPr>
        <p:txBody>
          <a:bodyPr wrap="square" lIns="0" rIns="0" tIns="0" bIns="0" anchor="t">
            <a:spAutoFit/>
          </a:bodyPr>
          <a:lstStyle/>
          <a:p>
            <a:pPr algn="l"/>
            <a:r>
              <a:rPr sz="950" b="0">
                <a:solidFill>
                  <a:srgbClr val="9A9CAB"/>
                </a:solidFill>
                <a:latin typeface="Consolas"/>
                <a:cs typeface="Consolas"/>
              </a:rPr>
              <a:t>HTTPS  ·  JSON  ·  Bearer JWT</a:t>
            </a:r>
          </a:p>
        </p:txBody>
      </p:sp>
      <p:sp>
        <p:nvSpPr>
          <p:cNvPr id="24" name="Rounded Rectangle 23"/>
          <p:cNvSpPr/>
          <p:nvPr/>
        </p:nvSpPr>
        <p:spPr>
          <a:xfrm>
            <a:off x="566928" y="3346704"/>
            <a:ext cx="7589520"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456432"/>
            <a:ext cx="7077456" cy="237744"/>
          </a:xfrm>
          <a:prstGeom prst="rect">
            <a:avLst/>
          </a:prstGeom>
          <a:noFill/>
        </p:spPr>
        <p:txBody>
          <a:bodyPr wrap="square" lIns="0" rIns="0" tIns="0" bIns="0" anchor="t">
            <a:spAutoFit/>
          </a:bodyPr>
          <a:lstStyle/>
          <a:p>
            <a:pPr algn="l"/>
            <a:r>
              <a:rPr sz="900" b="1" spc="140">
                <a:solidFill>
                  <a:srgbClr val="4F8CFF"/>
                </a:solidFill>
                <a:latin typeface="Segoe UI"/>
                <a:cs typeface="Segoe UI"/>
              </a:rPr>
              <a:t>API  ·  SPRING BOOT 4  ·  JAVA 21</a:t>
            </a:r>
          </a:p>
        </p:txBody>
      </p:sp>
      <p:sp>
        <p:nvSpPr>
          <p:cNvPr id="26" name="Rounded Rectangle 25"/>
          <p:cNvSpPr/>
          <p:nvPr/>
        </p:nvSpPr>
        <p:spPr>
          <a:xfrm>
            <a:off x="822960" y="3785615"/>
            <a:ext cx="1618488" cy="859536"/>
          </a:xfrm>
          <a:prstGeom prst="roundRect">
            <a:avLst>
              <a:gd name="adj" fmla="val 10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785615"/>
            <a:ext cx="1435608" cy="859536"/>
          </a:xfrm>
          <a:prstGeom prst="rect">
            <a:avLst/>
          </a:prstGeom>
          <a:noFill/>
        </p:spPr>
        <p:txBody>
          <a:bodyPr wrap="square" lIns="0" rIns="0" tIns="0" bIns="0" anchor="ctr">
            <a:spAutoFit/>
          </a:bodyPr>
          <a:lstStyle/>
          <a:p>
            <a:pPr algn="l"/>
            <a:r>
              <a:rPr sz="950" b="0">
                <a:solidFill>
                  <a:srgbClr val="E8E9F0"/>
                </a:solidFill>
                <a:latin typeface="Segoe UI"/>
                <a:cs typeface="Segoe UI"/>
              </a:rPr>
              <a:t>Security filter chain</a:t>
            </a:r>
          </a:p>
        </p:txBody>
      </p:sp>
      <p:sp>
        <p:nvSpPr>
          <p:cNvPr id="28" name="Right Arrow 27"/>
          <p:cNvSpPr/>
          <p:nvPr/>
        </p:nvSpPr>
        <p:spPr>
          <a:xfrm>
            <a:off x="2468879" y="4114800"/>
            <a:ext cx="146304" cy="146304"/>
          </a:xfrm>
          <a:prstGeom prst="rightArrow">
            <a:avLst/>
          </a:prstGeom>
          <a:solidFill>
            <a:srgbClr val="2F7D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642616" y="3785615"/>
            <a:ext cx="1618488" cy="859536"/>
          </a:xfrm>
          <a:prstGeom prst="roundRect">
            <a:avLst>
              <a:gd name="adj" fmla="val 10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34056" y="3785615"/>
            <a:ext cx="1435608" cy="859536"/>
          </a:xfrm>
          <a:prstGeom prst="rect">
            <a:avLst/>
          </a:prstGeom>
          <a:noFill/>
        </p:spPr>
        <p:txBody>
          <a:bodyPr wrap="square" lIns="0" rIns="0" tIns="0" bIns="0" anchor="ctr">
            <a:spAutoFit/>
          </a:bodyPr>
          <a:lstStyle/>
          <a:p>
            <a:pPr algn="l"/>
            <a:r>
              <a:rPr sz="950" b="0">
                <a:solidFill>
                  <a:srgbClr val="E8E9F0"/>
                </a:solidFill>
                <a:latin typeface="Segoe UI"/>
                <a:cs typeface="Segoe UI"/>
              </a:rPr>
              <a:t>Controllers @RestController</a:t>
            </a:r>
          </a:p>
        </p:txBody>
      </p:sp>
      <p:sp>
        <p:nvSpPr>
          <p:cNvPr id="31" name="Right Arrow 30"/>
          <p:cNvSpPr/>
          <p:nvPr/>
        </p:nvSpPr>
        <p:spPr>
          <a:xfrm>
            <a:off x="4288536" y="4114800"/>
            <a:ext cx="146304" cy="146304"/>
          </a:xfrm>
          <a:prstGeom prst="rightArrow">
            <a:avLst/>
          </a:prstGeom>
          <a:solidFill>
            <a:srgbClr val="2F7D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462272" y="3785615"/>
            <a:ext cx="1618488" cy="859536"/>
          </a:xfrm>
          <a:prstGeom prst="roundRect">
            <a:avLst>
              <a:gd name="adj" fmla="val 10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3712" y="3785615"/>
            <a:ext cx="1435608" cy="859536"/>
          </a:xfrm>
          <a:prstGeom prst="rect">
            <a:avLst/>
          </a:prstGeom>
          <a:noFill/>
        </p:spPr>
        <p:txBody>
          <a:bodyPr wrap="square" lIns="0" rIns="0" tIns="0" bIns="0" anchor="ctr">
            <a:spAutoFit/>
          </a:bodyPr>
          <a:lstStyle/>
          <a:p>
            <a:pPr algn="l"/>
            <a:r>
              <a:rPr sz="950" b="0">
                <a:solidFill>
                  <a:srgbClr val="E8E9F0"/>
                </a:solidFill>
                <a:latin typeface="Segoe UI"/>
                <a:cs typeface="Segoe UI"/>
              </a:rPr>
              <a:t>Services ownership rules</a:t>
            </a:r>
          </a:p>
        </p:txBody>
      </p:sp>
      <p:sp>
        <p:nvSpPr>
          <p:cNvPr id="34" name="Right Arrow 33"/>
          <p:cNvSpPr/>
          <p:nvPr/>
        </p:nvSpPr>
        <p:spPr>
          <a:xfrm>
            <a:off x="6108192" y="4114800"/>
            <a:ext cx="146304" cy="146304"/>
          </a:xfrm>
          <a:prstGeom prst="rightArrow">
            <a:avLst/>
          </a:prstGeom>
          <a:solidFill>
            <a:srgbClr val="2F7D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81928" y="3785615"/>
            <a:ext cx="1618488" cy="859536"/>
          </a:xfrm>
          <a:prstGeom prst="roundRect">
            <a:avLst>
              <a:gd name="adj" fmla="val 10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3368" y="3785615"/>
            <a:ext cx="1435608" cy="859536"/>
          </a:xfrm>
          <a:prstGeom prst="rect">
            <a:avLst/>
          </a:prstGeom>
          <a:noFill/>
        </p:spPr>
        <p:txBody>
          <a:bodyPr wrap="square" lIns="0" rIns="0" tIns="0" bIns="0" anchor="ctr">
            <a:spAutoFit/>
          </a:bodyPr>
          <a:lstStyle/>
          <a:p>
            <a:pPr algn="l"/>
            <a:r>
              <a:rPr sz="950" b="0">
                <a:solidFill>
                  <a:srgbClr val="E8E9F0"/>
                </a:solidFill>
                <a:latin typeface="Segoe UI"/>
                <a:cs typeface="Segoe UI"/>
              </a:rPr>
              <a:t>Repositories Spring Data JPA</a:t>
            </a:r>
          </a:p>
        </p:txBody>
      </p:sp>
      <p:sp>
        <p:nvSpPr>
          <p:cNvPr id="37" name="Down Arrow 36"/>
          <p:cNvSpPr/>
          <p:nvPr/>
        </p:nvSpPr>
        <p:spPr>
          <a:xfrm>
            <a:off x="4233672" y="4901184"/>
            <a:ext cx="256032" cy="256032"/>
          </a:xfrm>
          <a:prstGeom prst="down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81144" y="4864608"/>
            <a:ext cx="3291840" cy="237744"/>
          </a:xfrm>
          <a:prstGeom prst="rect">
            <a:avLst/>
          </a:prstGeom>
          <a:noFill/>
        </p:spPr>
        <p:txBody>
          <a:bodyPr wrap="square" lIns="0" rIns="0" tIns="0" bIns="0" anchor="t">
            <a:spAutoFit/>
          </a:bodyPr>
          <a:lstStyle/>
          <a:p>
            <a:pPr algn="l"/>
            <a:r>
              <a:rPr sz="950" b="0">
                <a:solidFill>
                  <a:srgbClr val="9A9CAB"/>
                </a:solidFill>
                <a:latin typeface="Consolas"/>
                <a:cs typeface="Consolas"/>
              </a:rPr>
              <a:t>JDBC  ·  HikariCP  ·  SSL</a:t>
            </a:r>
          </a:p>
        </p:txBody>
      </p:sp>
      <p:sp>
        <p:nvSpPr>
          <p:cNvPr id="39" name="Rounded Rectangle 38"/>
          <p:cNvSpPr/>
          <p:nvPr/>
        </p:nvSpPr>
        <p:spPr>
          <a:xfrm>
            <a:off x="566928" y="5248656"/>
            <a:ext cx="7589520" cy="84124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358384"/>
            <a:ext cx="7077456" cy="237744"/>
          </a:xfrm>
          <a:prstGeom prst="rect">
            <a:avLst/>
          </a:prstGeom>
          <a:noFill/>
        </p:spPr>
        <p:txBody>
          <a:bodyPr wrap="square" lIns="0" rIns="0" tIns="0" bIns="0" anchor="t">
            <a:spAutoFit/>
          </a:bodyPr>
          <a:lstStyle/>
          <a:p>
            <a:pPr algn="l"/>
            <a:r>
              <a:rPr sz="900" b="1" spc="140">
                <a:solidFill>
                  <a:srgbClr val="4F8CFF"/>
                </a:solidFill>
                <a:latin typeface="Segoe UI"/>
                <a:cs typeface="Segoe UI"/>
              </a:rPr>
              <a:t>DATA</a:t>
            </a:r>
          </a:p>
        </p:txBody>
      </p:sp>
      <p:sp>
        <p:nvSpPr>
          <p:cNvPr id="41" name="TextBox 40"/>
          <p:cNvSpPr txBox="1"/>
          <p:nvPr/>
        </p:nvSpPr>
        <p:spPr>
          <a:xfrm>
            <a:off x="822960" y="5596128"/>
            <a:ext cx="3291840" cy="237744"/>
          </a:xfrm>
          <a:prstGeom prst="rect">
            <a:avLst/>
          </a:prstGeom>
          <a:noFill/>
        </p:spPr>
        <p:txBody>
          <a:bodyPr wrap="square" lIns="0" rIns="0" tIns="0" bIns="0" anchor="t">
            <a:spAutoFit/>
          </a:bodyPr>
          <a:lstStyle/>
          <a:p>
            <a:pPr algn="l"/>
            <a:r>
              <a:rPr sz="1300" b="1">
                <a:solidFill>
                  <a:srgbClr val="FFFFFF"/>
                </a:solidFill>
                <a:latin typeface="Segoe UI"/>
                <a:cs typeface="Segoe UI"/>
              </a:rPr>
              <a:t>PostgreSQL on Neon</a:t>
            </a:r>
          </a:p>
        </p:txBody>
      </p:sp>
      <p:sp>
        <p:nvSpPr>
          <p:cNvPr id="42" name="Rounded Rectangle 41"/>
          <p:cNvSpPr/>
          <p:nvPr/>
        </p:nvSpPr>
        <p:spPr>
          <a:xfrm>
            <a:off x="4315968" y="5577840"/>
            <a:ext cx="120700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15968" y="5577840"/>
            <a:ext cx="120700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23 tables</a:t>
            </a:r>
          </a:p>
        </p:txBody>
      </p:sp>
      <p:sp>
        <p:nvSpPr>
          <p:cNvPr id="44" name="Rounded Rectangle 43"/>
          <p:cNvSpPr/>
          <p:nvPr/>
        </p:nvSpPr>
        <p:spPr>
          <a:xfrm>
            <a:off x="5596127" y="5577840"/>
            <a:ext cx="120700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96127" y="5577840"/>
            <a:ext cx="120700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Flyway V1+V2</a:t>
            </a:r>
          </a:p>
        </p:txBody>
      </p:sp>
      <p:sp>
        <p:nvSpPr>
          <p:cNvPr id="46" name="Rounded Rectangle 45"/>
          <p:cNvSpPr/>
          <p:nvPr/>
        </p:nvSpPr>
        <p:spPr>
          <a:xfrm>
            <a:off x="6876288" y="5577840"/>
            <a:ext cx="1207008" cy="274320"/>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76288" y="5577840"/>
            <a:ext cx="1207008" cy="274320"/>
          </a:xfrm>
          <a:prstGeom prst="rect">
            <a:avLst/>
          </a:prstGeom>
          <a:noFill/>
        </p:spPr>
        <p:txBody>
          <a:bodyPr wrap="square" lIns="0" rIns="0" tIns="0" bIns="0" anchor="ctr">
            <a:spAutoFit/>
          </a:bodyPr>
          <a:lstStyle/>
          <a:p>
            <a:pPr algn="ctr"/>
            <a:r>
              <a:rPr sz="850" b="0">
                <a:solidFill>
                  <a:srgbClr val="E8E9F0"/>
                </a:solidFill>
                <a:latin typeface="Segoe UI"/>
                <a:cs typeface="Segoe UI"/>
              </a:rPr>
              <a:t>scale-to-zero</a:t>
            </a:r>
          </a:p>
        </p:txBody>
      </p:sp>
      <p:sp>
        <p:nvSpPr>
          <p:cNvPr id="48" name="Rounded Rectangle 47"/>
          <p:cNvSpPr/>
          <p:nvPr/>
        </p:nvSpPr>
        <p:spPr>
          <a:xfrm>
            <a:off x="8476488" y="2011680"/>
            <a:ext cx="3148553" cy="4078224"/>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95944" y="2139696"/>
            <a:ext cx="2709641" cy="237744"/>
          </a:xfrm>
          <a:prstGeom prst="rect">
            <a:avLst/>
          </a:prstGeom>
          <a:noFill/>
        </p:spPr>
        <p:txBody>
          <a:bodyPr wrap="square" lIns="0" rIns="0" tIns="0" bIns="0" anchor="t">
            <a:spAutoFit/>
          </a:bodyPr>
          <a:lstStyle/>
          <a:p>
            <a:pPr algn="l"/>
            <a:r>
              <a:rPr sz="900" b="1" spc="140">
                <a:solidFill>
                  <a:srgbClr val="34D399"/>
                </a:solidFill>
                <a:latin typeface="Segoe UI"/>
                <a:cs typeface="Segoe UI"/>
              </a:rPr>
              <a:t>DELIVERY</a:t>
            </a:r>
          </a:p>
        </p:txBody>
      </p:sp>
      <p:sp>
        <p:nvSpPr>
          <p:cNvPr id="50" name="Rounded Rectangle 49"/>
          <p:cNvSpPr/>
          <p:nvPr/>
        </p:nvSpPr>
        <p:spPr>
          <a:xfrm>
            <a:off x="8695944" y="2487168"/>
            <a:ext cx="2709641" cy="603504"/>
          </a:xfrm>
          <a:prstGeom prst="roundRect">
            <a:avLst>
              <a:gd name="adj" fmla="val 12000"/>
            </a:avLst>
          </a:prstGeom>
          <a:solidFill>
            <a:srgbClr val="14141F">
              <a:alpha val="100000"/>
            </a:srgbClr>
          </a:solidFill>
          <a:ln w="9525">
            <a:solidFill>
              <a:srgbClr val="FFFF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23960" y="2569464"/>
            <a:ext cx="2453609" cy="219456"/>
          </a:xfrm>
          <a:prstGeom prst="rect">
            <a:avLst/>
          </a:prstGeom>
          <a:noFill/>
        </p:spPr>
        <p:txBody>
          <a:bodyPr wrap="square" lIns="0" rIns="0" tIns="0" bIns="0" anchor="t">
            <a:spAutoFit/>
          </a:bodyPr>
          <a:lstStyle/>
          <a:p>
            <a:pPr algn="l"/>
            <a:r>
              <a:rPr sz="1050" b="1">
                <a:solidFill>
                  <a:srgbClr val="E8E9F0"/>
                </a:solidFill>
                <a:latin typeface="Segoe UI"/>
                <a:cs typeface="Segoe UI"/>
              </a:rPr>
              <a:t>GitHub Actions</a:t>
            </a:r>
          </a:p>
        </p:txBody>
      </p:sp>
      <p:sp>
        <p:nvSpPr>
          <p:cNvPr id="52" name="TextBox 51"/>
          <p:cNvSpPr txBox="1"/>
          <p:nvPr/>
        </p:nvSpPr>
        <p:spPr>
          <a:xfrm>
            <a:off x="8823960" y="2798064"/>
            <a:ext cx="2453609" cy="219456"/>
          </a:xfrm>
          <a:prstGeom prst="rect">
            <a:avLst/>
          </a:prstGeom>
          <a:noFill/>
        </p:spPr>
        <p:txBody>
          <a:bodyPr wrap="square" lIns="0" rIns="0" tIns="0" bIns="0" anchor="t">
            <a:spAutoFit/>
          </a:bodyPr>
          <a:lstStyle/>
          <a:p>
            <a:pPr algn="l"/>
            <a:r>
              <a:rPr sz="850" b="0">
                <a:solidFill>
                  <a:srgbClr val="9A9CAB"/>
                </a:solidFill>
                <a:latin typeface="Segoe UI"/>
                <a:cs typeface="Segoe UI"/>
              </a:rPr>
              <a:t>build + test on every push</a:t>
            </a:r>
          </a:p>
        </p:txBody>
      </p:sp>
      <p:sp>
        <p:nvSpPr>
          <p:cNvPr id="53" name="Down Arrow 52"/>
          <p:cNvSpPr/>
          <p:nvPr/>
        </p:nvSpPr>
        <p:spPr>
          <a:xfrm>
            <a:off x="9986756" y="3108960"/>
            <a:ext cx="128016" cy="128016"/>
          </a:xfrm>
          <a:prstGeom prst="downArrow">
            <a:avLst/>
          </a:prstGeom>
          <a:solidFill>
            <a:srgbClr val="34D39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695944" y="3218688"/>
            <a:ext cx="2709641" cy="603504"/>
          </a:xfrm>
          <a:prstGeom prst="roundRect">
            <a:avLst>
              <a:gd name="adj" fmla="val 12000"/>
            </a:avLst>
          </a:prstGeom>
          <a:solidFill>
            <a:srgbClr val="14141F">
              <a:alpha val="100000"/>
            </a:srgbClr>
          </a:solidFill>
          <a:ln w="9525">
            <a:solidFill>
              <a:srgbClr val="FFFF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23960" y="3300984"/>
            <a:ext cx="2453609" cy="219456"/>
          </a:xfrm>
          <a:prstGeom prst="rect">
            <a:avLst/>
          </a:prstGeom>
          <a:noFill/>
        </p:spPr>
        <p:txBody>
          <a:bodyPr wrap="square" lIns="0" rIns="0" tIns="0" bIns="0" anchor="t">
            <a:spAutoFit/>
          </a:bodyPr>
          <a:lstStyle/>
          <a:p>
            <a:pPr algn="l"/>
            <a:r>
              <a:rPr sz="1050" b="1">
                <a:solidFill>
                  <a:srgbClr val="E8E9F0"/>
                </a:solidFill>
                <a:latin typeface="Segoe UI"/>
                <a:cs typeface="Segoe UI"/>
              </a:rPr>
              <a:t>Docker image</a:t>
            </a:r>
          </a:p>
        </p:txBody>
      </p:sp>
      <p:sp>
        <p:nvSpPr>
          <p:cNvPr id="56" name="TextBox 55"/>
          <p:cNvSpPr txBox="1"/>
          <p:nvPr/>
        </p:nvSpPr>
        <p:spPr>
          <a:xfrm>
            <a:off x="8823960" y="3529584"/>
            <a:ext cx="2453609" cy="219456"/>
          </a:xfrm>
          <a:prstGeom prst="rect">
            <a:avLst/>
          </a:prstGeom>
          <a:noFill/>
        </p:spPr>
        <p:txBody>
          <a:bodyPr wrap="square" lIns="0" rIns="0" tIns="0" bIns="0" anchor="t">
            <a:spAutoFit/>
          </a:bodyPr>
          <a:lstStyle/>
          <a:p>
            <a:pPr algn="l"/>
            <a:r>
              <a:rPr sz="850" b="0">
                <a:solidFill>
                  <a:srgbClr val="9A9CAB"/>
                </a:solidFill>
                <a:latin typeface="Segoe UI"/>
                <a:cs typeface="Segoe UI"/>
              </a:rPr>
              <a:t>multi-stage, backend only</a:t>
            </a:r>
          </a:p>
        </p:txBody>
      </p:sp>
      <p:sp>
        <p:nvSpPr>
          <p:cNvPr id="57" name="Down Arrow 56"/>
          <p:cNvSpPr/>
          <p:nvPr/>
        </p:nvSpPr>
        <p:spPr>
          <a:xfrm>
            <a:off x="9986756" y="3840480"/>
            <a:ext cx="128016" cy="128016"/>
          </a:xfrm>
          <a:prstGeom prst="downArrow">
            <a:avLst/>
          </a:prstGeom>
          <a:solidFill>
            <a:srgbClr val="34D39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695944" y="3950208"/>
            <a:ext cx="2709641" cy="603504"/>
          </a:xfrm>
          <a:prstGeom prst="roundRect">
            <a:avLst>
              <a:gd name="adj" fmla="val 12000"/>
            </a:avLst>
          </a:prstGeom>
          <a:solidFill>
            <a:srgbClr val="14141F">
              <a:alpha val="100000"/>
            </a:srgbClr>
          </a:solidFill>
          <a:ln w="9525">
            <a:solidFill>
              <a:srgbClr val="FFFF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23960" y="4032504"/>
            <a:ext cx="2453609" cy="219456"/>
          </a:xfrm>
          <a:prstGeom prst="rect">
            <a:avLst/>
          </a:prstGeom>
          <a:noFill/>
        </p:spPr>
        <p:txBody>
          <a:bodyPr wrap="square" lIns="0" rIns="0" tIns="0" bIns="0" anchor="t">
            <a:spAutoFit/>
          </a:bodyPr>
          <a:lstStyle/>
          <a:p>
            <a:pPr algn="l"/>
            <a:r>
              <a:rPr sz="1050" b="1">
                <a:solidFill>
                  <a:srgbClr val="E8E9F0"/>
                </a:solidFill>
                <a:latin typeface="Segoe UI"/>
                <a:cs typeface="Segoe UI"/>
              </a:rPr>
              <a:t>Render</a:t>
            </a:r>
          </a:p>
        </p:txBody>
      </p:sp>
      <p:sp>
        <p:nvSpPr>
          <p:cNvPr id="60" name="TextBox 59"/>
          <p:cNvSpPr txBox="1"/>
          <p:nvPr/>
        </p:nvSpPr>
        <p:spPr>
          <a:xfrm>
            <a:off x="8823960" y="4261104"/>
            <a:ext cx="2453609" cy="219456"/>
          </a:xfrm>
          <a:prstGeom prst="rect">
            <a:avLst/>
          </a:prstGeom>
          <a:noFill/>
        </p:spPr>
        <p:txBody>
          <a:bodyPr wrap="square" lIns="0" rIns="0" tIns="0" bIns="0" anchor="t">
            <a:spAutoFit/>
          </a:bodyPr>
          <a:lstStyle/>
          <a:p>
            <a:pPr algn="l"/>
            <a:r>
              <a:rPr sz="850" b="0">
                <a:solidFill>
                  <a:srgbClr val="9A9CAB"/>
                </a:solidFill>
                <a:latin typeface="Segoe UI"/>
                <a:cs typeface="Segoe UI"/>
              </a:rPr>
              <a:t>API · /actuator/health</a:t>
            </a:r>
          </a:p>
        </p:txBody>
      </p:sp>
      <p:sp>
        <p:nvSpPr>
          <p:cNvPr id="61" name="Down Arrow 60"/>
          <p:cNvSpPr/>
          <p:nvPr/>
        </p:nvSpPr>
        <p:spPr>
          <a:xfrm>
            <a:off x="9986756" y="4572000"/>
            <a:ext cx="128016" cy="128016"/>
          </a:xfrm>
          <a:prstGeom prst="downArrow">
            <a:avLst/>
          </a:prstGeom>
          <a:solidFill>
            <a:srgbClr val="34D39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8695944" y="4681728"/>
            <a:ext cx="2709641" cy="603504"/>
          </a:xfrm>
          <a:prstGeom prst="roundRect">
            <a:avLst>
              <a:gd name="adj" fmla="val 12000"/>
            </a:avLst>
          </a:prstGeom>
          <a:solidFill>
            <a:srgbClr val="14141F">
              <a:alpha val="100000"/>
            </a:srgbClr>
          </a:solidFill>
          <a:ln w="9525">
            <a:solidFill>
              <a:srgbClr val="FFFF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823960" y="4764024"/>
            <a:ext cx="2453609" cy="219456"/>
          </a:xfrm>
          <a:prstGeom prst="rect">
            <a:avLst/>
          </a:prstGeom>
          <a:noFill/>
        </p:spPr>
        <p:txBody>
          <a:bodyPr wrap="square" lIns="0" rIns="0" tIns="0" bIns="0" anchor="t">
            <a:spAutoFit/>
          </a:bodyPr>
          <a:lstStyle/>
          <a:p>
            <a:pPr algn="l"/>
            <a:r>
              <a:rPr sz="1050" b="1">
                <a:solidFill>
                  <a:srgbClr val="E8E9F0"/>
                </a:solidFill>
                <a:latin typeface="Segoe UI"/>
                <a:cs typeface="Segoe UI"/>
              </a:rPr>
              <a:t>Vercel</a:t>
            </a:r>
          </a:p>
        </p:txBody>
      </p:sp>
      <p:sp>
        <p:nvSpPr>
          <p:cNvPr id="64" name="TextBox 63"/>
          <p:cNvSpPr txBox="1"/>
          <p:nvPr/>
        </p:nvSpPr>
        <p:spPr>
          <a:xfrm>
            <a:off x="8823960" y="4992624"/>
            <a:ext cx="2453609" cy="219456"/>
          </a:xfrm>
          <a:prstGeom prst="rect">
            <a:avLst/>
          </a:prstGeom>
          <a:noFill/>
        </p:spPr>
        <p:txBody>
          <a:bodyPr wrap="square" lIns="0" rIns="0" tIns="0" bIns="0" anchor="t">
            <a:spAutoFit/>
          </a:bodyPr>
          <a:lstStyle/>
          <a:p>
            <a:pPr algn="l"/>
            <a:r>
              <a:rPr sz="850" b="0">
                <a:solidFill>
                  <a:srgbClr val="9A9CAB"/>
                </a:solidFill>
                <a:latin typeface="Segoe UI"/>
                <a:cs typeface="Segoe UI"/>
              </a:rPr>
              <a:t>React SPA build</a:t>
            </a:r>
          </a:p>
        </p:txBody>
      </p:sp>
      <p:sp>
        <p:nvSpPr>
          <p:cNvPr id="65" name="Down Arrow 64"/>
          <p:cNvSpPr/>
          <p:nvPr/>
        </p:nvSpPr>
        <p:spPr>
          <a:xfrm>
            <a:off x="9986756" y="5303520"/>
            <a:ext cx="128016" cy="128016"/>
          </a:xfrm>
          <a:prstGeom prst="downArrow">
            <a:avLst/>
          </a:prstGeom>
          <a:solidFill>
            <a:srgbClr val="34D39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8695944" y="5413248"/>
            <a:ext cx="2709641" cy="603504"/>
          </a:xfrm>
          <a:prstGeom prst="roundRect">
            <a:avLst>
              <a:gd name="adj" fmla="val 12000"/>
            </a:avLst>
          </a:prstGeom>
          <a:solidFill>
            <a:srgbClr val="14141F">
              <a:alpha val="100000"/>
            </a:srgbClr>
          </a:solidFill>
          <a:ln w="9525">
            <a:solidFill>
              <a:srgbClr val="FFFF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23960" y="5495544"/>
            <a:ext cx="2453609" cy="219456"/>
          </a:xfrm>
          <a:prstGeom prst="rect">
            <a:avLst/>
          </a:prstGeom>
          <a:noFill/>
        </p:spPr>
        <p:txBody>
          <a:bodyPr wrap="square" lIns="0" rIns="0" tIns="0" bIns="0" anchor="t">
            <a:spAutoFit/>
          </a:bodyPr>
          <a:lstStyle/>
          <a:p>
            <a:pPr algn="l"/>
            <a:r>
              <a:rPr sz="1050" b="1">
                <a:solidFill>
                  <a:srgbClr val="E8E9F0"/>
                </a:solidFill>
                <a:latin typeface="Segoe UI"/>
                <a:cs typeface="Segoe UI"/>
              </a:rPr>
              <a:t>Neon</a:t>
            </a:r>
          </a:p>
        </p:txBody>
      </p:sp>
      <p:sp>
        <p:nvSpPr>
          <p:cNvPr id="68" name="TextBox 67"/>
          <p:cNvSpPr txBox="1"/>
          <p:nvPr/>
        </p:nvSpPr>
        <p:spPr>
          <a:xfrm>
            <a:off x="8823960" y="5724144"/>
            <a:ext cx="2453609" cy="219456"/>
          </a:xfrm>
          <a:prstGeom prst="rect">
            <a:avLst/>
          </a:prstGeom>
          <a:noFill/>
        </p:spPr>
        <p:txBody>
          <a:bodyPr wrap="square" lIns="0" rIns="0" tIns="0" bIns="0" anchor="t">
            <a:spAutoFit/>
          </a:bodyPr>
          <a:lstStyle/>
          <a:p>
            <a:pPr algn="l"/>
            <a:r>
              <a:rPr sz="850" b="0">
                <a:solidFill>
                  <a:srgbClr val="9A9CAB"/>
                </a:solidFill>
                <a:latin typeface="Segoe UI"/>
                <a:cs typeface="Segoe UI"/>
              </a:rPr>
              <a:t>pooled connection, SSL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07 · DATABASE DESIGN</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23 tables, all under migration control</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09</a:t>
            </a:r>
            <a:r>
              <a:rPr sz="850" b="0">
                <a:solidFill>
                  <a:srgbClr val="6B6D7C"/>
                </a:solidFill>
                <a:latin typeface="Segoe UI"/>
                <a:cs typeface="Segoe UI"/>
              </a:rPr>
              <a:t>  /  18</a:t>
            </a:r>
          </a:p>
        </p:txBody>
      </p:sp>
      <p:sp>
        <p:nvSpPr>
          <p:cNvPr id="13" name="TextBox 12"/>
          <p:cNvSpPr txBox="1"/>
          <p:nvPr/>
        </p:nvSpPr>
        <p:spPr>
          <a:xfrm>
            <a:off x="566928" y="1956816"/>
            <a:ext cx="5440680" cy="219456"/>
          </a:xfrm>
          <a:prstGeom prst="rect">
            <a:avLst/>
          </a:prstGeom>
          <a:noFill/>
        </p:spPr>
        <p:txBody>
          <a:bodyPr wrap="square" lIns="0" rIns="0" tIns="0" bIns="0" anchor="t">
            <a:spAutoFit/>
          </a:bodyPr>
          <a:lstStyle/>
          <a:p>
            <a:pPr algn="l"/>
            <a:r>
              <a:rPr sz="900" b="1" spc="140">
                <a:solidFill>
                  <a:srgbClr val="34D399"/>
                </a:solidFill>
                <a:latin typeface="Segoe UI"/>
                <a:cs typeface="Segoe UI"/>
              </a:rPr>
              <a:t>IN USE TODAY</a:t>
            </a:r>
          </a:p>
        </p:txBody>
      </p:sp>
      <p:sp>
        <p:nvSpPr>
          <p:cNvPr id="14" name="Rounded Rectangle 13"/>
          <p:cNvSpPr/>
          <p:nvPr/>
        </p:nvSpPr>
        <p:spPr>
          <a:xfrm>
            <a:off x="566928" y="2249424"/>
            <a:ext cx="5440680" cy="82296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395728"/>
            <a:ext cx="2011680" cy="237744"/>
          </a:xfrm>
          <a:prstGeom prst="rect">
            <a:avLst/>
          </a:prstGeom>
          <a:noFill/>
        </p:spPr>
        <p:txBody>
          <a:bodyPr wrap="square" lIns="0" rIns="0" tIns="0" bIns="0" anchor="t">
            <a:spAutoFit/>
          </a:bodyPr>
          <a:lstStyle/>
          <a:p>
            <a:pPr algn="l"/>
            <a:r>
              <a:rPr sz="1150" b="1">
                <a:solidFill>
                  <a:srgbClr val="FFFFFF"/>
                </a:solidFill>
                <a:latin typeface="Consolas"/>
                <a:cs typeface="Consolas"/>
              </a:rPr>
              <a:t>users</a:t>
            </a:r>
          </a:p>
        </p:txBody>
      </p:sp>
      <p:sp>
        <p:nvSpPr>
          <p:cNvPr id="16" name="TextBox 15"/>
          <p:cNvSpPr txBox="1"/>
          <p:nvPr/>
        </p:nvSpPr>
        <p:spPr>
          <a:xfrm>
            <a:off x="804672" y="2651760"/>
            <a:ext cx="4965192" cy="347472"/>
          </a:xfrm>
          <a:prstGeom prst="rect">
            <a:avLst/>
          </a:prstGeom>
          <a:noFill/>
        </p:spPr>
        <p:txBody>
          <a:bodyPr wrap="square" lIns="0" rIns="0" tIns="0" bIns="0" anchor="t">
            <a:spAutoFit/>
          </a:bodyPr>
          <a:lstStyle/>
          <a:p>
            <a:pPr algn="l"/>
            <a:r>
              <a:rPr sz="850" b="0">
                <a:solidFill>
                  <a:srgbClr val="9A9CAB"/>
                </a:solidFill>
                <a:latin typeface="Segoe UI"/>
                <a:cs typeface="Segoe UI"/>
              </a:rPr>
              <a:t>id · email (unique) · password_hash · name · handle · college · batch · headline · readiness_score · role · timestamps</a:t>
            </a:r>
          </a:p>
        </p:txBody>
      </p:sp>
      <p:sp>
        <p:nvSpPr>
          <p:cNvPr id="17" name="Rounded Rectangle 16"/>
          <p:cNvSpPr/>
          <p:nvPr/>
        </p:nvSpPr>
        <p:spPr>
          <a:xfrm>
            <a:off x="566928" y="3163824"/>
            <a:ext cx="5440680" cy="82296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310128"/>
            <a:ext cx="2011680" cy="237744"/>
          </a:xfrm>
          <a:prstGeom prst="rect">
            <a:avLst/>
          </a:prstGeom>
          <a:noFill/>
        </p:spPr>
        <p:txBody>
          <a:bodyPr wrap="square" lIns="0" rIns="0" tIns="0" bIns="0" anchor="t">
            <a:spAutoFit/>
          </a:bodyPr>
          <a:lstStyle/>
          <a:p>
            <a:pPr algn="l"/>
            <a:r>
              <a:rPr sz="1150" b="1">
                <a:solidFill>
                  <a:srgbClr val="FFFFFF"/>
                </a:solidFill>
                <a:latin typeface="Consolas"/>
                <a:cs typeface="Consolas"/>
              </a:rPr>
              <a:t>user_skills</a:t>
            </a:r>
          </a:p>
        </p:txBody>
      </p:sp>
      <p:sp>
        <p:nvSpPr>
          <p:cNvPr id="19" name="TextBox 18"/>
          <p:cNvSpPr txBox="1"/>
          <p:nvPr/>
        </p:nvSpPr>
        <p:spPr>
          <a:xfrm>
            <a:off x="804672" y="3566160"/>
            <a:ext cx="4965192" cy="347472"/>
          </a:xfrm>
          <a:prstGeom prst="rect">
            <a:avLst/>
          </a:prstGeom>
          <a:noFill/>
        </p:spPr>
        <p:txBody>
          <a:bodyPr wrap="square" lIns="0" rIns="0" tIns="0" bIns="0" anchor="t">
            <a:spAutoFit/>
          </a:bodyPr>
          <a:lstStyle/>
          <a:p>
            <a:pPr algn="l"/>
            <a:r>
              <a:rPr sz="850" b="0">
                <a:solidFill>
                  <a:srgbClr val="9A9CAB"/>
                </a:solidFill>
                <a:latin typeface="Segoe UI"/>
                <a:cs typeface="Segoe UI"/>
              </a:rPr>
              <a:t>user_id → users · skill · proficiency — the profile's skill list</a:t>
            </a:r>
          </a:p>
        </p:txBody>
      </p:sp>
      <p:sp>
        <p:nvSpPr>
          <p:cNvPr id="20" name="Rounded Rectangle 19"/>
          <p:cNvSpPr/>
          <p:nvPr/>
        </p:nvSpPr>
        <p:spPr>
          <a:xfrm>
            <a:off x="566928" y="4078224"/>
            <a:ext cx="5440680" cy="82296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224528"/>
            <a:ext cx="2011680" cy="237744"/>
          </a:xfrm>
          <a:prstGeom prst="rect">
            <a:avLst/>
          </a:prstGeom>
          <a:noFill/>
        </p:spPr>
        <p:txBody>
          <a:bodyPr wrap="square" lIns="0" rIns="0" tIns="0" bIns="0" anchor="t">
            <a:spAutoFit/>
          </a:bodyPr>
          <a:lstStyle/>
          <a:p>
            <a:pPr algn="l"/>
            <a:r>
              <a:rPr sz="1150" b="1">
                <a:solidFill>
                  <a:srgbClr val="FFFFFF"/>
                </a:solidFill>
                <a:latin typeface="Consolas"/>
                <a:cs typeface="Consolas"/>
              </a:rPr>
              <a:t>refresh_tokens</a:t>
            </a:r>
          </a:p>
        </p:txBody>
      </p:sp>
      <p:sp>
        <p:nvSpPr>
          <p:cNvPr id="22" name="TextBox 21"/>
          <p:cNvSpPr txBox="1"/>
          <p:nvPr/>
        </p:nvSpPr>
        <p:spPr>
          <a:xfrm>
            <a:off x="804672" y="4480560"/>
            <a:ext cx="4965192" cy="347472"/>
          </a:xfrm>
          <a:prstGeom prst="rect">
            <a:avLst/>
          </a:prstGeom>
          <a:noFill/>
        </p:spPr>
        <p:txBody>
          <a:bodyPr wrap="square" lIns="0" rIns="0" tIns="0" bIns="0" anchor="t">
            <a:spAutoFit/>
          </a:bodyPr>
          <a:lstStyle/>
          <a:p>
            <a:pPr algn="l"/>
            <a:r>
              <a:rPr sz="850" b="0">
                <a:solidFill>
                  <a:srgbClr val="9A9CAB"/>
                </a:solidFill>
                <a:latin typeface="Segoe UI"/>
                <a:cs typeface="Segoe UI"/>
              </a:rPr>
              <a:t>token_hash · user_id · expires_at · revoked_at — rotated on every use</a:t>
            </a:r>
          </a:p>
        </p:txBody>
      </p:sp>
      <p:sp>
        <p:nvSpPr>
          <p:cNvPr id="23" name="Rounded Rectangle 22"/>
          <p:cNvSpPr/>
          <p:nvPr/>
        </p:nvSpPr>
        <p:spPr>
          <a:xfrm>
            <a:off x="566928" y="4992624"/>
            <a:ext cx="5440680" cy="82296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138928"/>
            <a:ext cx="2011680" cy="237744"/>
          </a:xfrm>
          <a:prstGeom prst="rect">
            <a:avLst/>
          </a:prstGeom>
          <a:noFill/>
        </p:spPr>
        <p:txBody>
          <a:bodyPr wrap="square" lIns="0" rIns="0" tIns="0" bIns="0" anchor="t">
            <a:spAutoFit/>
          </a:bodyPr>
          <a:lstStyle/>
          <a:p>
            <a:pPr algn="l"/>
            <a:r>
              <a:rPr sz="1150" b="1">
                <a:solidFill>
                  <a:srgbClr val="FFFFFF"/>
                </a:solidFill>
                <a:latin typeface="Consolas"/>
                <a:cs typeface="Consolas"/>
              </a:rPr>
              <a:t>password_reset_tokens</a:t>
            </a:r>
          </a:p>
        </p:txBody>
      </p:sp>
      <p:sp>
        <p:nvSpPr>
          <p:cNvPr id="25" name="TextBox 24"/>
          <p:cNvSpPr txBox="1"/>
          <p:nvPr/>
        </p:nvSpPr>
        <p:spPr>
          <a:xfrm>
            <a:off x="804672" y="5394960"/>
            <a:ext cx="4965192" cy="347472"/>
          </a:xfrm>
          <a:prstGeom prst="rect">
            <a:avLst/>
          </a:prstGeom>
          <a:noFill/>
        </p:spPr>
        <p:txBody>
          <a:bodyPr wrap="square" lIns="0" rIns="0" tIns="0" bIns="0" anchor="t">
            <a:spAutoFit/>
          </a:bodyPr>
          <a:lstStyle/>
          <a:p>
            <a:pPr algn="l"/>
            <a:r>
              <a:rPr sz="850" b="0">
                <a:solidFill>
                  <a:srgbClr val="9A9CAB"/>
                </a:solidFill>
                <a:latin typeface="Segoe UI"/>
                <a:cs typeface="Segoe UI"/>
              </a:rPr>
              <a:t>token_hash · user_id · expires_at · used_at — single-use, 60 min</a:t>
            </a:r>
          </a:p>
        </p:txBody>
      </p:sp>
      <p:sp>
        <p:nvSpPr>
          <p:cNvPr id="26" name="TextBox 25"/>
          <p:cNvSpPr txBox="1"/>
          <p:nvPr/>
        </p:nvSpPr>
        <p:spPr>
          <a:xfrm>
            <a:off x="6318504" y="1956816"/>
            <a:ext cx="5306537" cy="219456"/>
          </a:xfrm>
          <a:prstGeom prst="rect">
            <a:avLst/>
          </a:prstGeom>
          <a:noFill/>
        </p:spPr>
        <p:txBody>
          <a:bodyPr wrap="square" lIns="0" rIns="0" tIns="0" bIns="0" anchor="t">
            <a:spAutoFit/>
          </a:bodyPr>
          <a:lstStyle/>
          <a:p>
            <a:pPr algn="l"/>
            <a:r>
              <a:rPr sz="900" b="1" spc="140">
                <a:solidFill>
                  <a:srgbClr val="FBBF24"/>
                </a:solidFill>
                <a:latin typeface="Segoe UI"/>
                <a:cs typeface="Segoe UI"/>
              </a:rPr>
              <a:t>DESIGNED &amp; SEEDED — 19 MORE</a:t>
            </a:r>
          </a:p>
        </p:txBody>
      </p:sp>
      <p:sp>
        <p:nvSpPr>
          <p:cNvPr id="27" name="Rounded Rectangle 26"/>
          <p:cNvSpPr/>
          <p:nvPr/>
        </p:nvSpPr>
        <p:spPr>
          <a:xfrm>
            <a:off x="6318504" y="2249424"/>
            <a:ext cx="5306537" cy="356616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56248" y="2468880"/>
            <a:ext cx="4831049" cy="219456"/>
          </a:xfrm>
          <a:prstGeom prst="rect">
            <a:avLst/>
          </a:prstGeom>
          <a:noFill/>
        </p:spPr>
        <p:txBody>
          <a:bodyPr wrap="square" lIns="0" rIns="0" tIns="0" bIns="0" anchor="t">
            <a:spAutoFit/>
          </a:bodyPr>
          <a:lstStyle/>
          <a:p>
            <a:pPr algn="l"/>
            <a:r>
              <a:rPr sz="1050" b="1">
                <a:solidFill>
                  <a:srgbClr val="4F8CFF"/>
                </a:solidFill>
                <a:latin typeface="Segoe UI"/>
                <a:cs typeface="Segoe UI"/>
              </a:rPr>
              <a:t>Coding &amp; portfolio</a:t>
            </a:r>
          </a:p>
        </p:txBody>
      </p:sp>
      <p:sp>
        <p:nvSpPr>
          <p:cNvPr id="29" name="TextBox 28"/>
          <p:cNvSpPr txBox="1"/>
          <p:nvPr/>
        </p:nvSpPr>
        <p:spPr>
          <a:xfrm>
            <a:off x="6556248" y="2706624"/>
            <a:ext cx="4831049" cy="475488"/>
          </a:xfrm>
          <a:prstGeom prst="rect">
            <a:avLst/>
          </a:prstGeom>
          <a:noFill/>
        </p:spPr>
        <p:txBody>
          <a:bodyPr wrap="square" lIns="0" rIns="0" tIns="0" bIns="0" anchor="t">
            <a:spAutoFit/>
          </a:bodyPr>
          <a:lstStyle/>
          <a:p>
            <a:pPr algn="l"/>
            <a:r>
              <a:rPr sz="850" b="0">
                <a:solidFill>
                  <a:srgbClr val="9A9CAB"/>
                </a:solidFill>
                <a:latin typeface="Segoe UI"/>
                <a:cs typeface="Segoe UI"/>
              </a:rPr>
              <a:t>platform_accounts · coding_snapshots · topic_stats · repos · activity_events</a:t>
            </a:r>
          </a:p>
        </p:txBody>
      </p:sp>
      <p:sp>
        <p:nvSpPr>
          <p:cNvPr id="30" name="TextBox 29"/>
          <p:cNvSpPr txBox="1"/>
          <p:nvPr/>
        </p:nvSpPr>
        <p:spPr>
          <a:xfrm>
            <a:off x="6556248" y="3310128"/>
            <a:ext cx="4831049" cy="219456"/>
          </a:xfrm>
          <a:prstGeom prst="rect">
            <a:avLst/>
          </a:prstGeom>
          <a:noFill/>
        </p:spPr>
        <p:txBody>
          <a:bodyPr wrap="square" lIns="0" rIns="0" tIns="0" bIns="0" anchor="t">
            <a:spAutoFit/>
          </a:bodyPr>
          <a:lstStyle/>
          <a:p>
            <a:pPr algn="l"/>
            <a:r>
              <a:rPr sz="1050" b="1">
                <a:solidFill>
                  <a:srgbClr val="4F8CFF"/>
                </a:solidFill>
                <a:latin typeface="Segoe UI"/>
                <a:cs typeface="Segoe UI"/>
              </a:rPr>
              <a:t>Productivity</a:t>
            </a:r>
          </a:p>
        </p:txBody>
      </p:sp>
      <p:sp>
        <p:nvSpPr>
          <p:cNvPr id="31" name="TextBox 30"/>
          <p:cNvSpPr txBox="1"/>
          <p:nvPr/>
        </p:nvSpPr>
        <p:spPr>
          <a:xfrm>
            <a:off x="6556248" y="3547872"/>
            <a:ext cx="4831049" cy="475488"/>
          </a:xfrm>
          <a:prstGeom prst="rect">
            <a:avLst/>
          </a:prstGeom>
          <a:noFill/>
        </p:spPr>
        <p:txBody>
          <a:bodyPr wrap="square" lIns="0" rIns="0" tIns="0" bIns="0" anchor="t">
            <a:spAutoFit/>
          </a:bodyPr>
          <a:lstStyle/>
          <a:p>
            <a:pPr algn="l"/>
            <a:r>
              <a:rPr sz="850" b="0">
                <a:solidFill>
                  <a:srgbClr val="9A9CAB"/>
                </a:solidFill>
                <a:latin typeface="Segoe UI"/>
                <a:cs typeface="Segoe UI"/>
              </a:rPr>
              <a:t>goals · notes · bookmarks · daily_plans · daily_plan_items</a:t>
            </a:r>
          </a:p>
        </p:txBody>
      </p:sp>
      <p:sp>
        <p:nvSpPr>
          <p:cNvPr id="32" name="TextBox 31"/>
          <p:cNvSpPr txBox="1"/>
          <p:nvPr/>
        </p:nvSpPr>
        <p:spPr>
          <a:xfrm>
            <a:off x="6556248" y="4151376"/>
            <a:ext cx="4831049" cy="219456"/>
          </a:xfrm>
          <a:prstGeom prst="rect">
            <a:avLst/>
          </a:prstGeom>
          <a:noFill/>
        </p:spPr>
        <p:txBody>
          <a:bodyPr wrap="square" lIns="0" rIns="0" tIns="0" bIns="0" anchor="t">
            <a:spAutoFit/>
          </a:bodyPr>
          <a:lstStyle/>
          <a:p>
            <a:pPr algn="l"/>
            <a:r>
              <a:rPr sz="1050" b="1">
                <a:solidFill>
                  <a:srgbClr val="4F8CFF"/>
                </a:solidFill>
                <a:latin typeface="Segoe UI"/>
                <a:cs typeface="Segoe UI"/>
              </a:rPr>
              <a:t>Learning</a:t>
            </a:r>
          </a:p>
        </p:txBody>
      </p:sp>
      <p:sp>
        <p:nvSpPr>
          <p:cNvPr id="33" name="TextBox 32"/>
          <p:cNvSpPr txBox="1"/>
          <p:nvPr/>
        </p:nvSpPr>
        <p:spPr>
          <a:xfrm>
            <a:off x="6556248" y="4389120"/>
            <a:ext cx="4831049" cy="475488"/>
          </a:xfrm>
          <a:prstGeom prst="rect">
            <a:avLst/>
          </a:prstGeom>
          <a:noFill/>
        </p:spPr>
        <p:txBody>
          <a:bodyPr wrap="square" lIns="0" rIns="0" tIns="0" bIns="0" anchor="t">
            <a:spAutoFit/>
          </a:bodyPr>
          <a:lstStyle/>
          <a:p>
            <a:pPr algn="l"/>
            <a:r>
              <a:rPr sz="850" b="0">
                <a:solidFill>
                  <a:srgbClr val="9A9CAB"/>
                </a:solidFill>
                <a:latin typeface="Segoe UI"/>
                <a:cs typeface="Segoe UI"/>
              </a:rPr>
              <a:t>roadmaps · roadmap_stages · roadmap_resources · roadmap_progress</a:t>
            </a:r>
          </a:p>
        </p:txBody>
      </p:sp>
      <p:sp>
        <p:nvSpPr>
          <p:cNvPr id="34" name="TextBox 33"/>
          <p:cNvSpPr txBox="1"/>
          <p:nvPr/>
        </p:nvSpPr>
        <p:spPr>
          <a:xfrm>
            <a:off x="6556248" y="4992624"/>
            <a:ext cx="4831049" cy="219456"/>
          </a:xfrm>
          <a:prstGeom prst="rect">
            <a:avLst/>
          </a:prstGeom>
          <a:noFill/>
        </p:spPr>
        <p:txBody>
          <a:bodyPr wrap="square" lIns="0" rIns="0" tIns="0" bIns="0" anchor="t">
            <a:spAutoFit/>
          </a:bodyPr>
          <a:lstStyle/>
          <a:p>
            <a:pPr algn="l"/>
            <a:r>
              <a:rPr sz="1050" b="1">
                <a:solidFill>
                  <a:srgbClr val="4F8CFF"/>
                </a:solidFill>
                <a:latin typeface="Segoe UI"/>
                <a:cs typeface="Segoe UI"/>
              </a:rPr>
              <a:t>Interview &amp; discovery</a:t>
            </a:r>
          </a:p>
        </p:txBody>
      </p:sp>
      <p:sp>
        <p:nvSpPr>
          <p:cNvPr id="35" name="TextBox 34"/>
          <p:cNvSpPr txBox="1"/>
          <p:nvPr/>
        </p:nvSpPr>
        <p:spPr>
          <a:xfrm>
            <a:off x="6556248" y="5230368"/>
            <a:ext cx="4831049" cy="475488"/>
          </a:xfrm>
          <a:prstGeom prst="rect">
            <a:avLst/>
          </a:prstGeom>
          <a:noFill/>
        </p:spPr>
        <p:txBody>
          <a:bodyPr wrap="square" lIns="0" rIns="0" tIns="0" bIns="0" anchor="t">
            <a:spAutoFit/>
          </a:bodyPr>
          <a:lstStyle/>
          <a:p>
            <a:pPr algn="l"/>
            <a:r>
              <a:rPr sz="850" b="0">
                <a:solidFill>
                  <a:srgbClr val="9A9CAB"/>
                </a:solidFill>
                <a:latin typeface="Segoe UI"/>
                <a:cs typeface="Segoe UI"/>
              </a:rPr>
              <a:t>interview_categories · interview_topics · interview_progress · contests · hackathons</a:t>
            </a:r>
          </a:p>
        </p:txBody>
      </p:sp>
      <p:sp>
        <p:nvSpPr>
          <p:cNvPr id="36" name="Rounded Rectangle 35"/>
          <p:cNvSpPr/>
          <p:nvPr/>
        </p:nvSpPr>
        <p:spPr>
          <a:xfrm>
            <a:off x="566928"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23 tables</a:t>
            </a:r>
          </a:p>
        </p:txBody>
      </p:sp>
      <p:sp>
        <p:nvSpPr>
          <p:cNvPr id="38" name="Rounded Rectangle 37"/>
          <p:cNvSpPr/>
          <p:nvPr/>
        </p:nvSpPr>
        <p:spPr>
          <a:xfrm>
            <a:off x="2431282"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31282"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2 Flyway migrations</a:t>
            </a:r>
          </a:p>
        </p:txBody>
      </p:sp>
      <p:sp>
        <p:nvSpPr>
          <p:cNvPr id="40" name="Rounded Rectangle 39"/>
          <p:cNvSpPr/>
          <p:nvPr/>
        </p:nvSpPr>
        <p:spPr>
          <a:xfrm>
            <a:off x="4295637"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5637"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127 seed rows</a:t>
            </a:r>
          </a:p>
        </p:txBody>
      </p:sp>
      <p:sp>
        <p:nvSpPr>
          <p:cNvPr id="42" name="Rounded Rectangle 41"/>
          <p:cNvSpPr/>
          <p:nvPr/>
        </p:nvSpPr>
        <p:spPr>
          <a:xfrm>
            <a:off x="6159992"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59992"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Flyway owns DDL</a:t>
            </a:r>
          </a:p>
        </p:txBody>
      </p:sp>
      <p:sp>
        <p:nvSpPr>
          <p:cNvPr id="44" name="Rounded Rectangle 43"/>
          <p:cNvSpPr/>
          <p:nvPr/>
        </p:nvSpPr>
        <p:spPr>
          <a:xfrm>
            <a:off x="8024347"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24347"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ddl-auto = validate</a:t>
            </a:r>
          </a:p>
        </p:txBody>
      </p:sp>
      <p:sp>
        <p:nvSpPr>
          <p:cNvPr id="46" name="Rounded Rectangle 45"/>
          <p:cNvSpPr/>
          <p:nvPr/>
        </p:nvSpPr>
        <p:spPr>
          <a:xfrm>
            <a:off x="9888702" y="5870448"/>
            <a:ext cx="1736338" cy="310896"/>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8702" y="5870448"/>
            <a:ext cx="1736338" cy="310896"/>
          </a:xfrm>
          <a:prstGeom prst="rect">
            <a:avLst/>
          </a:prstGeom>
          <a:noFill/>
        </p:spPr>
        <p:txBody>
          <a:bodyPr wrap="square" lIns="0" rIns="0" tIns="0" bIns="0" anchor="ctr">
            <a:spAutoFit/>
          </a:bodyPr>
          <a:lstStyle/>
          <a:p>
            <a:pPr algn="ctr"/>
            <a:r>
              <a:rPr sz="900" b="0">
                <a:solidFill>
                  <a:srgbClr val="E8E9F0"/>
                </a:solidFill>
                <a:latin typeface="Segoe UI"/>
                <a:cs typeface="Segoe UI"/>
              </a:rPr>
              <a:t>TIMESTAMPTZ stored in UTC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08 · AUTHENTICATION &amp; SECURITY</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Login, then a session that survives a reload</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10</a:t>
            </a:r>
            <a:r>
              <a:rPr sz="850" b="0">
                <a:solidFill>
                  <a:srgbClr val="6B6D7C"/>
                </a:solidFill>
                <a:latin typeface="Segoe UI"/>
                <a:cs typeface="Segoe UI"/>
              </a:rPr>
              <a:t>  /  18</a:t>
            </a:r>
          </a:p>
        </p:txBody>
      </p:sp>
      <p:sp>
        <p:nvSpPr>
          <p:cNvPr id="13" name="Rounded Rectangle 12"/>
          <p:cNvSpPr/>
          <p:nvPr/>
        </p:nvSpPr>
        <p:spPr>
          <a:xfrm>
            <a:off x="566928" y="2011680"/>
            <a:ext cx="2654800" cy="384048"/>
          </a:xfrm>
          <a:prstGeom prst="roundRect">
            <a:avLst>
              <a:gd name="adj" fmla="val 30000"/>
            </a:avLst>
          </a:prstGeom>
          <a:solidFill>
            <a:srgbClr val="14141F">
              <a:alpha val="100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11680"/>
            <a:ext cx="2654800" cy="384048"/>
          </a:xfrm>
          <a:prstGeom prst="rect">
            <a:avLst/>
          </a:prstGeom>
          <a:noFill/>
        </p:spPr>
        <p:txBody>
          <a:bodyPr wrap="square" lIns="0" rIns="0" tIns="0" bIns="0" anchor="ctr">
            <a:spAutoFit/>
          </a:bodyPr>
          <a:lstStyle/>
          <a:p>
            <a:pPr algn="ctr"/>
            <a:r>
              <a:rPr sz="1050" b="1">
                <a:solidFill>
                  <a:srgbClr val="FFFFFF"/>
                </a:solidFill>
                <a:latin typeface="Segoe UI"/>
                <a:cs typeface="Segoe UI"/>
              </a:rPr>
              <a:t>Browser</a:t>
            </a:r>
          </a:p>
        </p:txBody>
      </p:sp>
      <p:sp>
        <p:nvSpPr>
          <p:cNvPr id="15" name="Rectangle 14"/>
          <p:cNvSpPr/>
          <p:nvPr/>
        </p:nvSpPr>
        <p:spPr>
          <a:xfrm>
            <a:off x="1889756" y="2395728"/>
            <a:ext cx="9144" cy="3749039"/>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68032" y="2011680"/>
            <a:ext cx="2654800" cy="384048"/>
          </a:xfrm>
          <a:prstGeom prst="roundRect">
            <a:avLst>
              <a:gd name="adj" fmla="val 30000"/>
            </a:avLst>
          </a:prstGeom>
          <a:solidFill>
            <a:srgbClr val="14141F">
              <a:alpha val="100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8032" y="2011680"/>
            <a:ext cx="2654800" cy="384048"/>
          </a:xfrm>
          <a:prstGeom prst="rect">
            <a:avLst/>
          </a:prstGeom>
          <a:noFill/>
        </p:spPr>
        <p:txBody>
          <a:bodyPr wrap="square" lIns="0" rIns="0" tIns="0" bIns="0" anchor="ctr">
            <a:spAutoFit/>
          </a:bodyPr>
          <a:lstStyle/>
          <a:p>
            <a:pPr algn="ctr"/>
            <a:r>
              <a:rPr sz="1050" b="1">
                <a:solidFill>
                  <a:srgbClr val="FFFFFF"/>
                </a:solidFill>
                <a:latin typeface="Segoe UI"/>
                <a:cs typeface="Segoe UI"/>
              </a:rPr>
              <a:t>Spring API</a:t>
            </a:r>
          </a:p>
        </p:txBody>
      </p:sp>
      <p:sp>
        <p:nvSpPr>
          <p:cNvPr id="18" name="Rectangle 17"/>
          <p:cNvSpPr/>
          <p:nvPr/>
        </p:nvSpPr>
        <p:spPr>
          <a:xfrm>
            <a:off x="4690860" y="2395728"/>
            <a:ext cx="9144" cy="3749039"/>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69136" y="2011680"/>
            <a:ext cx="2654800" cy="384048"/>
          </a:xfrm>
          <a:prstGeom prst="roundRect">
            <a:avLst>
              <a:gd name="adj" fmla="val 30000"/>
            </a:avLst>
          </a:prstGeom>
          <a:solidFill>
            <a:srgbClr val="14141F">
              <a:alpha val="100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69136" y="2011680"/>
            <a:ext cx="2654800" cy="384048"/>
          </a:xfrm>
          <a:prstGeom prst="rect">
            <a:avLst/>
          </a:prstGeom>
          <a:noFill/>
        </p:spPr>
        <p:txBody>
          <a:bodyPr wrap="square" lIns="0" rIns="0" tIns="0" bIns="0" anchor="ctr">
            <a:spAutoFit/>
          </a:bodyPr>
          <a:lstStyle/>
          <a:p>
            <a:pPr algn="ctr"/>
            <a:r>
              <a:rPr sz="1050" b="1">
                <a:solidFill>
                  <a:srgbClr val="FFFFFF"/>
                </a:solidFill>
                <a:latin typeface="Segoe UI"/>
                <a:cs typeface="Segoe UI"/>
              </a:rPr>
              <a:t>Security filter</a:t>
            </a:r>
          </a:p>
        </p:txBody>
      </p:sp>
      <p:sp>
        <p:nvSpPr>
          <p:cNvPr id="21" name="Rectangle 20"/>
          <p:cNvSpPr/>
          <p:nvPr/>
        </p:nvSpPr>
        <p:spPr>
          <a:xfrm>
            <a:off x="7491964" y="2395728"/>
            <a:ext cx="9144" cy="3749039"/>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70241" y="2011680"/>
            <a:ext cx="2654800" cy="384048"/>
          </a:xfrm>
          <a:prstGeom prst="roundRect">
            <a:avLst>
              <a:gd name="adj" fmla="val 30000"/>
            </a:avLst>
          </a:prstGeom>
          <a:solidFill>
            <a:srgbClr val="14141F">
              <a:alpha val="100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0241" y="2011680"/>
            <a:ext cx="2654800" cy="384048"/>
          </a:xfrm>
          <a:prstGeom prst="rect">
            <a:avLst/>
          </a:prstGeom>
          <a:noFill/>
        </p:spPr>
        <p:txBody>
          <a:bodyPr wrap="square" lIns="0" rIns="0" tIns="0" bIns="0" anchor="ctr">
            <a:spAutoFit/>
          </a:bodyPr>
          <a:lstStyle/>
          <a:p>
            <a:pPr algn="ctr"/>
            <a:r>
              <a:rPr sz="1050" b="1">
                <a:solidFill>
                  <a:srgbClr val="FFFFFF"/>
                </a:solidFill>
                <a:latin typeface="Segoe UI"/>
                <a:cs typeface="Segoe UI"/>
              </a:rPr>
              <a:t>PostgreSQL</a:t>
            </a:r>
          </a:p>
        </p:txBody>
      </p:sp>
      <p:sp>
        <p:nvSpPr>
          <p:cNvPr id="24" name="Rectangle 23"/>
          <p:cNvSpPr/>
          <p:nvPr/>
        </p:nvSpPr>
        <p:spPr>
          <a:xfrm>
            <a:off x="10293069" y="2395728"/>
            <a:ext cx="9144" cy="3749039"/>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4558272" y="2697479"/>
            <a:ext cx="137160" cy="137160"/>
          </a:xfrm>
          <a:prstGeom prst="right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94328" y="2766060"/>
            <a:ext cx="2663944" cy="18288"/>
          </a:xfrm>
          <a:prstGeom prst="rect">
            <a:avLst/>
          </a:prstGeom>
          <a:solidFill>
            <a:srgbClr val="2F7D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94328" y="2560320"/>
            <a:ext cx="9730713" cy="201168"/>
          </a:xfrm>
          <a:prstGeom prst="rect">
            <a:avLst/>
          </a:prstGeom>
          <a:noFill/>
        </p:spPr>
        <p:txBody>
          <a:bodyPr wrap="square" lIns="0" rIns="0" tIns="0" bIns="0" anchor="t">
            <a:spAutoFit/>
          </a:bodyPr>
          <a:lstStyle/>
          <a:p>
            <a:pPr algn="l"/>
            <a:r>
              <a:rPr sz="900" b="0">
                <a:solidFill>
                  <a:srgbClr val="E8E9F0"/>
                </a:solidFill>
                <a:latin typeface="Segoe UI"/>
                <a:cs typeface="Segoe UI"/>
              </a:rPr>
              <a:t>POST /api/auth/login  { email, password }</a:t>
            </a:r>
          </a:p>
        </p:txBody>
      </p:sp>
      <p:sp>
        <p:nvSpPr>
          <p:cNvPr id="28" name="Right Arrow 27"/>
          <p:cNvSpPr/>
          <p:nvPr/>
        </p:nvSpPr>
        <p:spPr>
          <a:xfrm>
            <a:off x="10160481" y="3099815"/>
            <a:ext cx="137160" cy="137160"/>
          </a:xfrm>
          <a:prstGeom prst="rightArrow">
            <a:avLst/>
          </a:prstGeom>
          <a:solidFill>
            <a:srgbClr val="9D3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95432" y="3168396"/>
            <a:ext cx="5465048" cy="18288"/>
          </a:xfrm>
          <a:prstGeom prst="rect">
            <a:avLst/>
          </a:prstGeom>
          <a:solidFill>
            <a:srgbClr val="9D3B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5432" y="2962656"/>
            <a:ext cx="6929608" cy="201168"/>
          </a:xfrm>
          <a:prstGeom prst="rect">
            <a:avLst/>
          </a:prstGeom>
          <a:noFill/>
        </p:spPr>
        <p:txBody>
          <a:bodyPr wrap="square" lIns="0" rIns="0" tIns="0" bIns="0" anchor="t">
            <a:spAutoFit/>
          </a:bodyPr>
          <a:lstStyle/>
          <a:p>
            <a:pPr algn="l"/>
            <a:r>
              <a:rPr sz="900" b="0">
                <a:solidFill>
                  <a:srgbClr val="E8E9F0"/>
                </a:solidFill>
                <a:latin typeface="Segoe UI"/>
                <a:cs typeface="Segoe UI"/>
              </a:rPr>
              <a:t>SELECT user WHERE email = ?</a:t>
            </a:r>
          </a:p>
        </p:txBody>
      </p:sp>
      <p:sp>
        <p:nvSpPr>
          <p:cNvPr id="31" name="Right Arrow 30"/>
          <p:cNvSpPr/>
          <p:nvPr/>
        </p:nvSpPr>
        <p:spPr>
          <a:xfrm>
            <a:off x="7359376" y="3502151"/>
            <a:ext cx="137160" cy="137160"/>
          </a:xfrm>
          <a:prstGeom prst="rightArrow">
            <a:avLst/>
          </a:prstGeom>
          <a:solidFill>
            <a:srgbClr val="7FD4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95432" y="3570732"/>
            <a:ext cx="2663944" cy="18288"/>
          </a:xfrm>
          <a:prstGeom prst="rect">
            <a:avLst/>
          </a:prstGeom>
          <a:solidFill>
            <a:srgbClr val="7FD4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95432" y="3364991"/>
            <a:ext cx="6929608" cy="201168"/>
          </a:xfrm>
          <a:prstGeom prst="rect">
            <a:avLst/>
          </a:prstGeom>
          <a:noFill/>
        </p:spPr>
        <p:txBody>
          <a:bodyPr wrap="square" lIns="0" rIns="0" tIns="0" bIns="0" anchor="t">
            <a:spAutoFit/>
          </a:bodyPr>
          <a:lstStyle/>
          <a:p>
            <a:pPr algn="l"/>
            <a:r>
              <a:rPr sz="900" b="0">
                <a:solidFill>
                  <a:srgbClr val="E8E9F0"/>
                </a:solidFill>
                <a:latin typeface="Segoe UI"/>
                <a:cs typeface="Segoe UI"/>
              </a:rPr>
              <a:t>BCrypt.matches(raw, password_hash)</a:t>
            </a:r>
          </a:p>
        </p:txBody>
      </p:sp>
      <p:sp>
        <p:nvSpPr>
          <p:cNvPr id="34" name="Left Arrow 33"/>
          <p:cNvSpPr/>
          <p:nvPr/>
        </p:nvSpPr>
        <p:spPr>
          <a:xfrm>
            <a:off x="4695432" y="3904487"/>
            <a:ext cx="137160" cy="137160"/>
          </a:xfrm>
          <a:prstGeom prst="leftArrow">
            <a:avLst/>
          </a:prstGeom>
          <a:solidFill>
            <a:srgbClr val="9D3B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31488" y="3973068"/>
            <a:ext cx="2663944" cy="18288"/>
          </a:xfrm>
          <a:prstGeom prst="rect">
            <a:avLst/>
          </a:prstGeom>
          <a:solidFill>
            <a:srgbClr val="9D3B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94328" y="3767328"/>
            <a:ext cx="9730713" cy="201168"/>
          </a:xfrm>
          <a:prstGeom prst="rect">
            <a:avLst/>
          </a:prstGeom>
          <a:noFill/>
        </p:spPr>
        <p:txBody>
          <a:bodyPr wrap="square" lIns="0" rIns="0" tIns="0" bIns="0" anchor="t">
            <a:spAutoFit/>
          </a:bodyPr>
          <a:lstStyle/>
          <a:p>
            <a:pPr algn="l"/>
            <a:r>
              <a:rPr sz="900" b="0">
                <a:solidFill>
                  <a:srgbClr val="E8E9F0"/>
                </a:solidFill>
                <a:latin typeface="Segoe UI"/>
                <a:cs typeface="Segoe UI"/>
              </a:rPr>
              <a:t>200 · access JWT (15 min)  +  httpOnly refresh cookie (30 d, rotated)</a:t>
            </a:r>
          </a:p>
        </p:txBody>
      </p:sp>
      <p:sp>
        <p:nvSpPr>
          <p:cNvPr id="37" name="Right Arrow 36"/>
          <p:cNvSpPr/>
          <p:nvPr/>
        </p:nvSpPr>
        <p:spPr>
          <a:xfrm>
            <a:off x="4558272" y="4306824"/>
            <a:ext cx="137160" cy="137160"/>
          </a:xfrm>
          <a:prstGeom prst="right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94328" y="4375404"/>
            <a:ext cx="2663944" cy="18288"/>
          </a:xfrm>
          <a:prstGeom prst="rect">
            <a:avLst/>
          </a:prstGeom>
          <a:solidFill>
            <a:srgbClr val="2F7D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94328" y="4169664"/>
            <a:ext cx="9730713" cy="201168"/>
          </a:xfrm>
          <a:prstGeom prst="rect">
            <a:avLst/>
          </a:prstGeom>
          <a:noFill/>
        </p:spPr>
        <p:txBody>
          <a:bodyPr wrap="square" lIns="0" rIns="0" tIns="0" bIns="0" anchor="t">
            <a:spAutoFit/>
          </a:bodyPr>
          <a:lstStyle/>
          <a:p>
            <a:pPr algn="l"/>
            <a:r>
              <a:rPr sz="900" b="0">
                <a:solidFill>
                  <a:srgbClr val="E8E9F0"/>
                </a:solidFill>
                <a:latin typeface="Segoe UI"/>
                <a:cs typeface="Segoe UI"/>
              </a:rPr>
              <a:t>GET /api/users/me   Authorization: Bearer &lt;jwt&gt;</a:t>
            </a:r>
          </a:p>
        </p:txBody>
      </p:sp>
      <p:sp>
        <p:nvSpPr>
          <p:cNvPr id="40" name="Right Arrow 39"/>
          <p:cNvSpPr/>
          <p:nvPr/>
        </p:nvSpPr>
        <p:spPr>
          <a:xfrm>
            <a:off x="7359376" y="4709160"/>
            <a:ext cx="137160" cy="137160"/>
          </a:xfrm>
          <a:prstGeom prst="rightArrow">
            <a:avLst/>
          </a:prstGeom>
          <a:solidFill>
            <a:srgbClr val="7FD4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95432" y="4777740"/>
            <a:ext cx="2663944" cy="18288"/>
          </a:xfrm>
          <a:prstGeom prst="rect">
            <a:avLst/>
          </a:prstGeom>
          <a:solidFill>
            <a:srgbClr val="7FD4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95432" y="4572000"/>
            <a:ext cx="6929608" cy="201168"/>
          </a:xfrm>
          <a:prstGeom prst="rect">
            <a:avLst/>
          </a:prstGeom>
          <a:noFill/>
        </p:spPr>
        <p:txBody>
          <a:bodyPr wrap="square" lIns="0" rIns="0" tIns="0" bIns="0" anchor="t">
            <a:spAutoFit/>
          </a:bodyPr>
          <a:lstStyle/>
          <a:p>
            <a:pPr algn="l"/>
            <a:r>
              <a:rPr sz="900" b="0">
                <a:solidFill>
                  <a:srgbClr val="E8E9F0"/>
                </a:solidFill>
                <a:latin typeface="Segoe UI"/>
                <a:cs typeface="Segoe UI"/>
              </a:rPr>
              <a:t>verify signature · read user id from sub claim</a:t>
            </a:r>
          </a:p>
        </p:txBody>
      </p:sp>
      <p:sp>
        <p:nvSpPr>
          <p:cNvPr id="43" name="Right Arrow 42"/>
          <p:cNvSpPr/>
          <p:nvPr/>
        </p:nvSpPr>
        <p:spPr>
          <a:xfrm>
            <a:off x="4558272" y="5111496"/>
            <a:ext cx="137160" cy="137160"/>
          </a:xfrm>
          <a:prstGeom prst="right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94328" y="5180076"/>
            <a:ext cx="2663944" cy="18288"/>
          </a:xfrm>
          <a:prstGeom prst="rect">
            <a:avLst/>
          </a:prstGeom>
          <a:solidFill>
            <a:srgbClr val="2F7D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894328" y="4974336"/>
            <a:ext cx="9730713" cy="201168"/>
          </a:xfrm>
          <a:prstGeom prst="rect">
            <a:avLst/>
          </a:prstGeom>
          <a:noFill/>
        </p:spPr>
        <p:txBody>
          <a:bodyPr wrap="square" lIns="0" rIns="0" tIns="0" bIns="0" anchor="t">
            <a:spAutoFit/>
          </a:bodyPr>
          <a:lstStyle/>
          <a:p>
            <a:pPr algn="l"/>
            <a:r>
              <a:rPr sz="900" b="0">
                <a:solidFill>
                  <a:srgbClr val="E8E9F0"/>
                </a:solidFill>
                <a:latin typeface="Segoe UI"/>
                <a:cs typeface="Segoe UI"/>
              </a:rPr>
              <a:t>401 expired  →  POST /api/auth/refresh  →  200 new token  →  replay request</a:t>
            </a:r>
          </a:p>
        </p:txBody>
      </p:sp>
      <p:sp>
        <p:nvSpPr>
          <p:cNvPr id="46" name="Right Arrow 45"/>
          <p:cNvSpPr/>
          <p:nvPr/>
        </p:nvSpPr>
        <p:spPr>
          <a:xfrm>
            <a:off x="4558272" y="5513832"/>
            <a:ext cx="137160" cy="137160"/>
          </a:xfrm>
          <a:prstGeom prst="rightArrow">
            <a:avLst/>
          </a:prstGeom>
          <a:solidFill>
            <a:srgbClr val="2F7DFF">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894328" y="5582412"/>
            <a:ext cx="2663944" cy="18288"/>
          </a:xfrm>
          <a:prstGeom prst="rect">
            <a:avLst/>
          </a:prstGeom>
          <a:solidFill>
            <a:srgbClr val="2F7D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94328" y="5376672"/>
            <a:ext cx="9730713" cy="201168"/>
          </a:xfrm>
          <a:prstGeom prst="rect">
            <a:avLst/>
          </a:prstGeom>
          <a:noFill/>
        </p:spPr>
        <p:txBody>
          <a:bodyPr wrap="square" lIns="0" rIns="0" tIns="0" bIns="0" anchor="t">
            <a:spAutoFit/>
          </a:bodyPr>
          <a:lstStyle/>
          <a:p>
            <a:pPr algn="l"/>
            <a:r>
              <a:rPr sz="900" b="0">
                <a:solidFill>
                  <a:srgbClr val="E8E9F0"/>
                </a:solidFill>
                <a:latin typeface="Segoe UI"/>
                <a:cs typeface="Segoe UI"/>
              </a:rPr>
              <a:t>POST /api/auth/logout  →  204 · refresh row revoked</a:t>
            </a:r>
          </a:p>
        </p:txBody>
      </p:sp>
      <p:sp>
        <p:nvSpPr>
          <p:cNvPr id="49" name="TextBox 48"/>
          <p:cNvSpPr txBox="1"/>
          <p:nvPr/>
        </p:nvSpPr>
        <p:spPr>
          <a:xfrm>
            <a:off x="566928" y="6053328"/>
            <a:ext cx="11058113" cy="237744"/>
          </a:xfrm>
          <a:prstGeom prst="rect">
            <a:avLst/>
          </a:prstGeom>
          <a:noFill/>
        </p:spPr>
        <p:txBody>
          <a:bodyPr wrap="square" lIns="0" rIns="0" tIns="0" bIns="0" anchor="t">
            <a:spAutoFit/>
          </a:bodyPr>
          <a:lstStyle/>
          <a:p>
            <a:pPr algn="l"/>
            <a:r>
              <a:rPr sz="950" b="0">
                <a:solidFill>
                  <a:srgbClr val="9A9CAB"/>
                </a:solidFill>
                <a:latin typeface="Segoe UI"/>
                <a:cs typeface="Segoe UI"/>
              </a:rPr>
              <a:t>Access token lives in memory only — never localStorage — so an XSS payload cannot read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09 · CURRENT STATUS</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What is verified, what is seeded, what is next</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9656"/>
            <a:ext cx="11058113" cy="237744"/>
          </a:xfrm>
          <a:prstGeom prst="rect">
            <a:avLst/>
          </a:prstGeom>
          <a:noFill/>
        </p:spPr>
        <p:txBody>
          <a:bodyPr wrap="square" lIns="0" rIns="0" tIns="0" bIns="0" anchor="t">
            <a:spAutoFit/>
          </a:bodyPr>
          <a:lstStyle/>
          <a:p>
            <a:pPr algn="l"/>
            <a:r>
              <a:rPr sz="1150" b="0">
                <a:solidFill>
                  <a:srgbClr val="9A9CAB"/>
                </a:solidFill>
                <a:latin typeface="Segoe UI"/>
                <a:cs typeface="Segoe UI"/>
              </a:rPr>
              <a:t>Stated precisely — the deeper feature screens still render mock data by design.</a:t>
            </a:r>
          </a:p>
        </p:txBody>
      </p:sp>
      <p:sp>
        <p:nvSpPr>
          <p:cNvPr id="11" name="Rectangle 10"/>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3" name="TextBox 12"/>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11</a:t>
            </a:r>
            <a:r>
              <a:rPr sz="850" b="0">
                <a:solidFill>
                  <a:srgbClr val="6B6D7C"/>
                </a:solidFill>
                <a:latin typeface="Segoe UI"/>
                <a:cs typeface="Segoe UI"/>
              </a:rPr>
              <a:t>  /  18</a:t>
            </a:r>
          </a:p>
        </p:txBody>
      </p:sp>
      <p:sp>
        <p:nvSpPr>
          <p:cNvPr id="14" name="Rounded Rectangle 13"/>
          <p:cNvSpPr/>
          <p:nvPr/>
        </p:nvSpPr>
        <p:spPr>
          <a:xfrm>
            <a:off x="566928" y="2249424"/>
            <a:ext cx="3527541" cy="3529584"/>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2450592"/>
            <a:ext cx="100584" cy="100584"/>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2377440"/>
            <a:ext cx="2869173" cy="237744"/>
          </a:xfrm>
          <a:prstGeom prst="rect">
            <a:avLst/>
          </a:prstGeom>
          <a:noFill/>
        </p:spPr>
        <p:txBody>
          <a:bodyPr wrap="square" lIns="0" rIns="0" tIns="0" bIns="0" anchor="t">
            <a:spAutoFit/>
          </a:bodyPr>
          <a:lstStyle/>
          <a:p>
            <a:pPr algn="l"/>
            <a:r>
              <a:rPr sz="950" b="1" spc="130">
                <a:solidFill>
                  <a:srgbClr val="34D399"/>
                </a:solidFill>
                <a:latin typeface="Segoe UI"/>
                <a:cs typeface="Segoe UI"/>
              </a:rPr>
              <a:t>LIVE &amp; VERIFIED</a:t>
            </a:r>
          </a:p>
        </p:txBody>
      </p:sp>
      <p:sp>
        <p:nvSpPr>
          <p:cNvPr id="17" name="Rectangle 16"/>
          <p:cNvSpPr/>
          <p:nvPr/>
        </p:nvSpPr>
        <p:spPr>
          <a:xfrm>
            <a:off x="804672" y="2706624"/>
            <a:ext cx="3052053" cy="10972"/>
          </a:xfrm>
          <a:prstGeom prst="rect">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7" y="2884932"/>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83464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Register · login · refresh · logout</a:t>
            </a:r>
          </a:p>
        </p:txBody>
      </p:sp>
      <p:sp>
        <p:nvSpPr>
          <p:cNvPr id="20" name="Oval 19"/>
          <p:cNvSpPr/>
          <p:nvPr/>
        </p:nvSpPr>
        <p:spPr>
          <a:xfrm>
            <a:off x="841247" y="3172968"/>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12267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Forgot &amp; reset password (single-use)</a:t>
            </a:r>
          </a:p>
        </p:txBody>
      </p:sp>
      <p:sp>
        <p:nvSpPr>
          <p:cNvPr id="22" name="Oval 21"/>
          <p:cNvSpPr/>
          <p:nvPr/>
        </p:nvSpPr>
        <p:spPr>
          <a:xfrm>
            <a:off x="841247" y="3461004"/>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41071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GET · PATCH /api/users/me</a:t>
            </a:r>
          </a:p>
        </p:txBody>
      </p:sp>
      <p:sp>
        <p:nvSpPr>
          <p:cNvPr id="24" name="Oval 23"/>
          <p:cNvSpPr/>
          <p:nvPr/>
        </p:nvSpPr>
        <p:spPr>
          <a:xfrm>
            <a:off x="841247" y="3749039"/>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69874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GET /api/users/me/stats</a:t>
            </a:r>
          </a:p>
        </p:txBody>
      </p:sp>
      <p:sp>
        <p:nvSpPr>
          <p:cNvPr id="26" name="Oval 25"/>
          <p:cNvSpPr/>
          <p:nvPr/>
        </p:nvSpPr>
        <p:spPr>
          <a:xfrm>
            <a:off x="841247" y="4037076"/>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986784"/>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23-table schema applied on Neon</a:t>
            </a:r>
          </a:p>
        </p:txBody>
      </p:sp>
      <p:sp>
        <p:nvSpPr>
          <p:cNvPr id="28" name="Oval 27"/>
          <p:cNvSpPr/>
          <p:nvPr/>
        </p:nvSpPr>
        <p:spPr>
          <a:xfrm>
            <a:off x="841247" y="4325112"/>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27482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BCrypt ($2a$10$) password hashing</a:t>
            </a:r>
          </a:p>
        </p:txBody>
      </p:sp>
      <p:sp>
        <p:nvSpPr>
          <p:cNvPr id="30" name="Oval 29"/>
          <p:cNvSpPr/>
          <p:nvPr/>
        </p:nvSpPr>
        <p:spPr>
          <a:xfrm>
            <a:off x="841247" y="4613148"/>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56285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JWT + rotated httpOnly refresh cookie</a:t>
            </a:r>
          </a:p>
        </p:txBody>
      </p:sp>
      <p:sp>
        <p:nvSpPr>
          <p:cNvPr id="32" name="Oval 31"/>
          <p:cNvSpPr/>
          <p:nvPr/>
        </p:nvSpPr>
        <p:spPr>
          <a:xfrm>
            <a:off x="841247" y="4901184"/>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85089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Route guards · 401 for anonymous</a:t>
            </a:r>
          </a:p>
        </p:txBody>
      </p:sp>
      <p:sp>
        <p:nvSpPr>
          <p:cNvPr id="34" name="Oval 33"/>
          <p:cNvSpPr/>
          <p:nvPr/>
        </p:nvSpPr>
        <p:spPr>
          <a:xfrm>
            <a:off x="841247" y="5189220"/>
            <a:ext cx="68580" cy="68580"/>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13892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GitHub Actions CI green</a:t>
            </a:r>
          </a:p>
        </p:txBody>
      </p:sp>
      <p:sp>
        <p:nvSpPr>
          <p:cNvPr id="36" name="Rounded Rectangle 35"/>
          <p:cNvSpPr/>
          <p:nvPr/>
        </p:nvSpPr>
        <p:spPr>
          <a:xfrm>
            <a:off x="4332213" y="2249424"/>
            <a:ext cx="3527541" cy="3529584"/>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569957" y="2450592"/>
            <a:ext cx="100584" cy="100584"/>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837" y="2377440"/>
            <a:ext cx="2869173" cy="237744"/>
          </a:xfrm>
          <a:prstGeom prst="rect">
            <a:avLst/>
          </a:prstGeom>
          <a:noFill/>
        </p:spPr>
        <p:txBody>
          <a:bodyPr wrap="square" lIns="0" rIns="0" tIns="0" bIns="0" anchor="t">
            <a:spAutoFit/>
          </a:bodyPr>
          <a:lstStyle/>
          <a:p>
            <a:pPr algn="l"/>
            <a:r>
              <a:rPr sz="950" b="1" spc="130">
                <a:solidFill>
                  <a:srgbClr val="FBBF24"/>
                </a:solidFill>
                <a:latin typeface="Segoe UI"/>
                <a:cs typeface="Segoe UI"/>
              </a:rPr>
              <a:t>DESIGNED &amp; SEEDED</a:t>
            </a:r>
          </a:p>
        </p:txBody>
      </p:sp>
      <p:sp>
        <p:nvSpPr>
          <p:cNvPr id="39" name="Rectangle 38"/>
          <p:cNvSpPr/>
          <p:nvPr/>
        </p:nvSpPr>
        <p:spPr>
          <a:xfrm>
            <a:off x="4569957" y="2706624"/>
            <a:ext cx="3052053" cy="10972"/>
          </a:xfrm>
          <a:prstGeom prst="rect">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06533" y="2884932"/>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71125" y="283464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goals · notes · bookmarks</a:t>
            </a:r>
          </a:p>
        </p:txBody>
      </p:sp>
      <p:sp>
        <p:nvSpPr>
          <p:cNvPr id="42" name="Oval 41"/>
          <p:cNvSpPr/>
          <p:nvPr/>
        </p:nvSpPr>
        <p:spPr>
          <a:xfrm>
            <a:off x="4606533" y="3172968"/>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71125" y="312267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daily_plans · daily_plan_items</a:t>
            </a:r>
          </a:p>
        </p:txBody>
      </p:sp>
      <p:sp>
        <p:nvSpPr>
          <p:cNvPr id="44" name="Oval 43"/>
          <p:cNvSpPr/>
          <p:nvPr/>
        </p:nvSpPr>
        <p:spPr>
          <a:xfrm>
            <a:off x="4606533" y="3461004"/>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71125" y="341071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roadmaps (+ stages, resources, progress)</a:t>
            </a:r>
          </a:p>
        </p:txBody>
      </p:sp>
      <p:sp>
        <p:nvSpPr>
          <p:cNvPr id="46" name="Oval 45"/>
          <p:cNvSpPr/>
          <p:nvPr/>
        </p:nvSpPr>
        <p:spPr>
          <a:xfrm>
            <a:off x="4606533" y="3749039"/>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71125" y="369874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interview categories, topics, progress</a:t>
            </a:r>
          </a:p>
        </p:txBody>
      </p:sp>
      <p:sp>
        <p:nvSpPr>
          <p:cNvPr id="48" name="Oval 47"/>
          <p:cNvSpPr/>
          <p:nvPr/>
        </p:nvSpPr>
        <p:spPr>
          <a:xfrm>
            <a:off x="4606533" y="4037076"/>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71125" y="3986784"/>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contests · hackathons</a:t>
            </a:r>
          </a:p>
        </p:txBody>
      </p:sp>
      <p:sp>
        <p:nvSpPr>
          <p:cNvPr id="50" name="Oval 49"/>
          <p:cNvSpPr/>
          <p:nvPr/>
        </p:nvSpPr>
        <p:spPr>
          <a:xfrm>
            <a:off x="4606533" y="4325112"/>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71125" y="427482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127 seed rows already loaded</a:t>
            </a:r>
          </a:p>
        </p:txBody>
      </p:sp>
      <p:sp>
        <p:nvSpPr>
          <p:cNvPr id="52" name="Oval 51"/>
          <p:cNvSpPr/>
          <p:nvPr/>
        </p:nvSpPr>
        <p:spPr>
          <a:xfrm>
            <a:off x="4606533" y="4613148"/>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71125" y="456285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Endpoints defined in the API contract</a:t>
            </a:r>
          </a:p>
        </p:txBody>
      </p:sp>
      <p:sp>
        <p:nvSpPr>
          <p:cNvPr id="54" name="Oval 53"/>
          <p:cNvSpPr/>
          <p:nvPr/>
        </p:nvSpPr>
        <p:spPr>
          <a:xfrm>
            <a:off x="4606533" y="4901184"/>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71125" y="485089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Frontend screens already built</a:t>
            </a:r>
          </a:p>
        </p:txBody>
      </p:sp>
      <p:sp>
        <p:nvSpPr>
          <p:cNvPr id="56" name="Oval 55"/>
          <p:cNvSpPr/>
          <p:nvPr/>
        </p:nvSpPr>
        <p:spPr>
          <a:xfrm>
            <a:off x="4606533" y="5189220"/>
            <a:ext cx="68580" cy="68580"/>
          </a:xfrm>
          <a:prstGeom prst="ellipse">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71125" y="513892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Mock data layer still in use</a:t>
            </a:r>
          </a:p>
        </p:txBody>
      </p:sp>
      <p:sp>
        <p:nvSpPr>
          <p:cNvPr id="58" name="Rounded Rectangle 57"/>
          <p:cNvSpPr/>
          <p:nvPr/>
        </p:nvSpPr>
        <p:spPr>
          <a:xfrm>
            <a:off x="8097499" y="2249424"/>
            <a:ext cx="3527541" cy="3529584"/>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335243" y="2450592"/>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18123" y="2377440"/>
            <a:ext cx="2869173" cy="237744"/>
          </a:xfrm>
          <a:prstGeom prst="rect">
            <a:avLst/>
          </a:prstGeom>
          <a:noFill/>
        </p:spPr>
        <p:txBody>
          <a:bodyPr wrap="square" lIns="0" rIns="0" tIns="0" bIns="0" anchor="t">
            <a:spAutoFit/>
          </a:bodyPr>
          <a:lstStyle/>
          <a:p>
            <a:pPr algn="l"/>
            <a:r>
              <a:rPr sz="950" b="1" spc="130">
                <a:solidFill>
                  <a:srgbClr val="6B7280"/>
                </a:solidFill>
                <a:latin typeface="Segoe UI"/>
                <a:cs typeface="Segoe UI"/>
              </a:rPr>
              <a:t>NEXT MILESTONES</a:t>
            </a:r>
          </a:p>
        </p:txBody>
      </p:sp>
      <p:sp>
        <p:nvSpPr>
          <p:cNvPr id="61" name="Rectangle 60"/>
          <p:cNvSpPr/>
          <p:nvPr/>
        </p:nvSpPr>
        <p:spPr>
          <a:xfrm>
            <a:off x="8335243" y="2706624"/>
            <a:ext cx="3052053" cy="10972"/>
          </a:xfrm>
          <a:prstGeom prst="rect">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71819" y="2884932"/>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536411" y="283464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Goals vertical slice (real DB reads/writes)</a:t>
            </a:r>
          </a:p>
        </p:txBody>
      </p:sp>
      <p:sp>
        <p:nvSpPr>
          <p:cNvPr id="64" name="Oval 63"/>
          <p:cNvSpPr/>
          <p:nvPr/>
        </p:nvSpPr>
        <p:spPr>
          <a:xfrm>
            <a:off x="8371819" y="3172968"/>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36411" y="312267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Feature fan-out across all 11 sections</a:t>
            </a:r>
          </a:p>
        </p:txBody>
      </p:sp>
      <p:sp>
        <p:nvSpPr>
          <p:cNvPr id="66" name="Oval 65"/>
          <p:cNvSpPr/>
          <p:nvPr/>
        </p:nvSpPr>
        <p:spPr>
          <a:xfrm>
            <a:off x="8371819" y="3461004"/>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6411" y="341071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Platform sync: GitHub · Codeforces · LeetCode</a:t>
            </a:r>
          </a:p>
        </p:txBody>
      </p:sp>
      <p:sp>
        <p:nvSpPr>
          <p:cNvPr id="68" name="Oval 67"/>
          <p:cNvSpPr/>
          <p:nvPr/>
        </p:nvSpPr>
        <p:spPr>
          <a:xfrm>
            <a:off x="8371819" y="3749039"/>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36411" y="369874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Rule-based recommendations + daily plan</a:t>
            </a:r>
          </a:p>
        </p:txBody>
      </p:sp>
      <p:sp>
        <p:nvSpPr>
          <p:cNvPr id="70" name="Oval 69"/>
          <p:cNvSpPr/>
          <p:nvPr/>
        </p:nvSpPr>
        <p:spPr>
          <a:xfrm>
            <a:off x="8371819" y="4037076"/>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36411" y="3986784"/>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AI layer: portfolio review, README, bullets</a:t>
            </a:r>
          </a:p>
        </p:txBody>
      </p:sp>
      <p:sp>
        <p:nvSpPr>
          <p:cNvPr id="72" name="Oval 71"/>
          <p:cNvSpPr/>
          <p:nvPr/>
        </p:nvSpPr>
        <p:spPr>
          <a:xfrm>
            <a:off x="8371819" y="4325112"/>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36411" y="4274820"/>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Retire mock.ts entirely</a:t>
            </a:r>
          </a:p>
        </p:txBody>
      </p:sp>
      <p:sp>
        <p:nvSpPr>
          <p:cNvPr id="74" name="Oval 73"/>
          <p:cNvSpPr/>
          <p:nvPr/>
        </p:nvSpPr>
        <p:spPr>
          <a:xfrm>
            <a:off x="8371819" y="4613148"/>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536411" y="4562856"/>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Production deploy: Vercel + Render</a:t>
            </a:r>
          </a:p>
        </p:txBody>
      </p:sp>
      <p:sp>
        <p:nvSpPr>
          <p:cNvPr id="76" name="Oval 75"/>
          <p:cNvSpPr/>
          <p:nvPr/>
        </p:nvSpPr>
        <p:spPr>
          <a:xfrm>
            <a:off x="8371819" y="4901184"/>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36411" y="4850892"/>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Rate limits, monitoring, backups</a:t>
            </a:r>
          </a:p>
        </p:txBody>
      </p:sp>
      <p:sp>
        <p:nvSpPr>
          <p:cNvPr id="78" name="Oval 77"/>
          <p:cNvSpPr/>
          <p:nvPr/>
        </p:nvSpPr>
        <p:spPr>
          <a:xfrm>
            <a:off x="8371819" y="5189220"/>
            <a:ext cx="68580" cy="68580"/>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36411" y="5138928"/>
            <a:ext cx="2832597" cy="256032"/>
          </a:xfrm>
          <a:prstGeom prst="rect">
            <a:avLst/>
          </a:prstGeom>
          <a:noFill/>
        </p:spPr>
        <p:txBody>
          <a:bodyPr wrap="square" lIns="0" rIns="0" tIns="0" bIns="0" anchor="t">
            <a:spAutoFit/>
          </a:bodyPr>
          <a:lstStyle/>
          <a:p>
            <a:pPr algn="l"/>
            <a:r>
              <a:rPr sz="950" b="0">
                <a:solidFill>
                  <a:srgbClr val="9A9CAB"/>
                </a:solidFill>
                <a:latin typeface="Segoe UI"/>
                <a:cs typeface="Segoe UI"/>
              </a:rPr>
              <a:t>Root README + LICENSE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10 · PRODUCT WALKTHROUGH</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The dashboard: everything in one screen</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12</a:t>
            </a:r>
            <a:r>
              <a:rPr sz="850" b="0">
                <a:solidFill>
                  <a:srgbClr val="6B6D7C"/>
                </a:solidFill>
                <a:latin typeface="Segoe UI"/>
                <a:cs typeface="Segoe UI"/>
              </a:rPr>
              <a:t>  /  18</a:t>
            </a:r>
          </a:p>
        </p:txBody>
      </p:sp>
      <p:sp>
        <p:nvSpPr>
          <p:cNvPr id="13" name="Rounded Rectangle 12"/>
          <p:cNvSpPr/>
          <p:nvPr/>
        </p:nvSpPr>
        <p:spPr>
          <a:xfrm>
            <a:off x="609904" y="294436"/>
            <a:ext cx="7549286" cy="7549286"/>
          </a:xfrm>
          <a:prstGeom prst="roundRect">
            <a:avLst>
              <a:gd name="adj" fmla="val 50000"/>
            </a:avLst>
          </a:prstGeom>
          <a:solidFill>
            <a:srgbClr val="2F7D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2-dashboard.png"/>
          <p:cNvPicPr>
            <a:picLocks noChangeAspect="1"/>
          </p:cNvPicPr>
          <p:nvPr/>
        </p:nvPicPr>
        <p:blipFill>
          <a:blip r:embed="rId3"/>
          <a:stretch>
            <a:fillRect/>
          </a:stretch>
        </p:blipFill>
        <p:spPr>
          <a:xfrm>
            <a:off x="1239012" y="2103120"/>
            <a:ext cx="6291072" cy="3931920"/>
          </a:xfrm>
          <a:prstGeom prst="rect">
            <a:avLst/>
          </a:prstGeom>
        </p:spPr>
      </p:pic>
      <p:sp>
        <p:nvSpPr>
          <p:cNvPr id="15" name="Rectangle 14"/>
          <p:cNvSpPr/>
          <p:nvPr/>
        </p:nvSpPr>
        <p:spPr>
          <a:xfrm>
            <a:off x="1239012" y="2103120"/>
            <a:ext cx="6291072" cy="393192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22207" y="2103120"/>
            <a:ext cx="3102833" cy="731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23376" y="2212848"/>
            <a:ext cx="2700497" cy="219456"/>
          </a:xfrm>
          <a:prstGeom prst="rect">
            <a:avLst/>
          </a:prstGeom>
          <a:noFill/>
        </p:spPr>
        <p:txBody>
          <a:bodyPr wrap="square" lIns="0" rIns="0" tIns="0" bIns="0" anchor="t">
            <a:spAutoFit/>
          </a:bodyPr>
          <a:lstStyle/>
          <a:p>
            <a:pPr algn="l"/>
            <a:r>
              <a:rPr sz="1050" b="1">
                <a:solidFill>
                  <a:srgbClr val="FFFFFF"/>
                </a:solidFill>
                <a:latin typeface="Segoe UI"/>
                <a:cs typeface="Segoe UI"/>
              </a:rPr>
              <a:t>Welcome &amp; pace</a:t>
            </a:r>
          </a:p>
        </p:txBody>
      </p:sp>
      <p:sp>
        <p:nvSpPr>
          <p:cNvPr id="18" name="TextBox 17"/>
          <p:cNvSpPr txBox="1"/>
          <p:nvPr/>
        </p:nvSpPr>
        <p:spPr>
          <a:xfrm>
            <a:off x="8723376" y="2450591"/>
            <a:ext cx="2700497" cy="347472"/>
          </a:xfrm>
          <a:prstGeom prst="rect">
            <a:avLst/>
          </a:prstGeom>
          <a:noFill/>
        </p:spPr>
        <p:txBody>
          <a:bodyPr wrap="square" lIns="0" rIns="0" tIns="0" bIns="0" anchor="t">
            <a:spAutoFit/>
          </a:bodyPr>
          <a:lstStyle/>
          <a:p>
            <a:pPr algn="l"/>
            <a:r>
              <a:rPr sz="850" b="0">
                <a:solidFill>
                  <a:srgbClr val="9A9CAB"/>
                </a:solidFill>
                <a:latin typeface="Segoe UI"/>
                <a:cs typeface="Segoe UI"/>
              </a:rPr>
              <a:t>Goal pace, streak and a nudge, computed from the week's activity.</a:t>
            </a:r>
          </a:p>
        </p:txBody>
      </p:sp>
      <p:sp>
        <p:nvSpPr>
          <p:cNvPr id="19" name="Rounded Rectangle 18"/>
          <p:cNvSpPr/>
          <p:nvPr/>
        </p:nvSpPr>
        <p:spPr>
          <a:xfrm>
            <a:off x="8522207" y="2907791"/>
            <a:ext cx="3102833" cy="731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23376" y="3017520"/>
            <a:ext cx="2700497" cy="219456"/>
          </a:xfrm>
          <a:prstGeom prst="rect">
            <a:avLst/>
          </a:prstGeom>
          <a:noFill/>
        </p:spPr>
        <p:txBody>
          <a:bodyPr wrap="square" lIns="0" rIns="0" tIns="0" bIns="0" anchor="t">
            <a:spAutoFit/>
          </a:bodyPr>
          <a:lstStyle/>
          <a:p>
            <a:pPr algn="l"/>
            <a:r>
              <a:rPr sz="1050" b="1">
                <a:solidFill>
                  <a:srgbClr val="FFFFFF"/>
                </a:solidFill>
                <a:latin typeface="Segoe UI"/>
                <a:cs typeface="Segoe UI"/>
              </a:rPr>
              <a:t>Daily flight plan</a:t>
            </a:r>
          </a:p>
        </p:txBody>
      </p:sp>
      <p:sp>
        <p:nvSpPr>
          <p:cNvPr id="21" name="TextBox 20"/>
          <p:cNvSpPr txBox="1"/>
          <p:nvPr/>
        </p:nvSpPr>
        <p:spPr>
          <a:xfrm>
            <a:off x="8723376" y="3255263"/>
            <a:ext cx="2700497" cy="347472"/>
          </a:xfrm>
          <a:prstGeom prst="rect">
            <a:avLst/>
          </a:prstGeom>
          <a:noFill/>
        </p:spPr>
        <p:txBody>
          <a:bodyPr wrap="square" lIns="0" rIns="0" tIns="0" bIns="0" anchor="t">
            <a:spAutoFit/>
          </a:bodyPr>
          <a:lstStyle/>
          <a:p>
            <a:pPr algn="l"/>
            <a:r>
              <a:rPr sz="850" b="0">
                <a:solidFill>
                  <a:srgbClr val="9A9CAB"/>
                </a:solidFill>
                <a:latin typeface="Segoe UI"/>
                <a:cs typeface="Segoe UI"/>
              </a:rPr>
              <a:t>A short, achievable checklist for today — not a backlog.</a:t>
            </a:r>
          </a:p>
        </p:txBody>
      </p:sp>
      <p:sp>
        <p:nvSpPr>
          <p:cNvPr id="22" name="Rounded Rectangle 21"/>
          <p:cNvSpPr/>
          <p:nvPr/>
        </p:nvSpPr>
        <p:spPr>
          <a:xfrm>
            <a:off x="8522207" y="3712463"/>
            <a:ext cx="3102833" cy="731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376" y="3822191"/>
            <a:ext cx="2700497" cy="219456"/>
          </a:xfrm>
          <a:prstGeom prst="rect">
            <a:avLst/>
          </a:prstGeom>
          <a:noFill/>
        </p:spPr>
        <p:txBody>
          <a:bodyPr wrap="square" lIns="0" rIns="0" tIns="0" bIns="0" anchor="t">
            <a:spAutoFit/>
          </a:bodyPr>
          <a:lstStyle/>
          <a:p>
            <a:pPr algn="l"/>
            <a:r>
              <a:rPr sz="1050" b="1">
                <a:solidFill>
                  <a:srgbClr val="FFFFFF"/>
                </a:solidFill>
                <a:latin typeface="Segoe UI"/>
                <a:cs typeface="Segoe UI"/>
              </a:rPr>
              <a:t>Stat tiles</a:t>
            </a:r>
          </a:p>
        </p:txBody>
      </p:sp>
      <p:sp>
        <p:nvSpPr>
          <p:cNvPr id="24" name="TextBox 23"/>
          <p:cNvSpPr txBox="1"/>
          <p:nvPr/>
        </p:nvSpPr>
        <p:spPr>
          <a:xfrm>
            <a:off x="8723376" y="4059935"/>
            <a:ext cx="2700497" cy="347472"/>
          </a:xfrm>
          <a:prstGeom prst="rect">
            <a:avLst/>
          </a:prstGeom>
          <a:noFill/>
        </p:spPr>
        <p:txBody>
          <a:bodyPr wrap="square" lIns="0" rIns="0" tIns="0" bIns="0" anchor="t">
            <a:spAutoFit/>
          </a:bodyPr>
          <a:lstStyle/>
          <a:p>
            <a:pPr algn="l"/>
            <a:r>
              <a:rPr sz="850" b="0">
                <a:solidFill>
                  <a:srgbClr val="9A9CAB"/>
                </a:solidFill>
                <a:latin typeface="Segoe UI"/>
                <a:cs typeface="Segoe UI"/>
              </a:rPr>
              <a:t>Problems solved, contest rating, GitHub contributions, day streak.</a:t>
            </a:r>
          </a:p>
        </p:txBody>
      </p:sp>
      <p:sp>
        <p:nvSpPr>
          <p:cNvPr id="25" name="Rounded Rectangle 24"/>
          <p:cNvSpPr/>
          <p:nvPr/>
        </p:nvSpPr>
        <p:spPr>
          <a:xfrm>
            <a:off x="8522207" y="4517136"/>
            <a:ext cx="3102833" cy="731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23376" y="4626864"/>
            <a:ext cx="2700497" cy="219456"/>
          </a:xfrm>
          <a:prstGeom prst="rect">
            <a:avLst/>
          </a:prstGeom>
          <a:noFill/>
        </p:spPr>
        <p:txBody>
          <a:bodyPr wrap="square" lIns="0" rIns="0" tIns="0" bIns="0" anchor="t">
            <a:spAutoFit/>
          </a:bodyPr>
          <a:lstStyle/>
          <a:p>
            <a:pPr algn="l"/>
            <a:r>
              <a:rPr sz="1050" b="1">
                <a:solidFill>
                  <a:srgbClr val="FFFFFF"/>
                </a:solidFill>
                <a:latin typeface="Segoe UI"/>
                <a:cs typeface="Segoe UI"/>
              </a:rPr>
              <a:t>GitHub heatmap</a:t>
            </a:r>
          </a:p>
        </p:txBody>
      </p:sp>
      <p:sp>
        <p:nvSpPr>
          <p:cNvPr id="27" name="TextBox 26"/>
          <p:cNvSpPr txBox="1"/>
          <p:nvPr/>
        </p:nvSpPr>
        <p:spPr>
          <a:xfrm>
            <a:off x="8723376" y="4864607"/>
            <a:ext cx="2700497" cy="347472"/>
          </a:xfrm>
          <a:prstGeom prst="rect">
            <a:avLst/>
          </a:prstGeom>
          <a:noFill/>
        </p:spPr>
        <p:txBody>
          <a:bodyPr wrap="square" lIns="0" rIns="0" tIns="0" bIns="0" anchor="t">
            <a:spAutoFit/>
          </a:bodyPr>
          <a:lstStyle/>
          <a:p>
            <a:pPr algn="l"/>
            <a:r>
              <a:rPr sz="850" b="0">
                <a:solidFill>
                  <a:srgbClr val="9A9CAB"/>
                </a:solidFill>
                <a:latin typeface="Segoe UI"/>
                <a:cs typeface="Segoe UI"/>
              </a:rPr>
              <a:t>Contribution graph with longest streak and top language.</a:t>
            </a:r>
          </a:p>
        </p:txBody>
      </p:sp>
      <p:sp>
        <p:nvSpPr>
          <p:cNvPr id="28" name="Rounded Rectangle 27"/>
          <p:cNvSpPr/>
          <p:nvPr/>
        </p:nvSpPr>
        <p:spPr>
          <a:xfrm>
            <a:off x="8522207" y="5321807"/>
            <a:ext cx="3102833" cy="731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23376" y="5431536"/>
            <a:ext cx="2700497" cy="219456"/>
          </a:xfrm>
          <a:prstGeom prst="rect">
            <a:avLst/>
          </a:prstGeom>
          <a:noFill/>
        </p:spPr>
        <p:txBody>
          <a:bodyPr wrap="square" lIns="0" rIns="0" tIns="0" bIns="0" anchor="t">
            <a:spAutoFit/>
          </a:bodyPr>
          <a:lstStyle/>
          <a:p>
            <a:pPr algn="l"/>
            <a:r>
              <a:rPr sz="1050" b="1">
                <a:solidFill>
                  <a:srgbClr val="FFFFFF"/>
                </a:solidFill>
                <a:latin typeface="Segoe UI"/>
                <a:cs typeface="Segoe UI"/>
              </a:rPr>
              <a:t>Contests &amp; roadmaps</a:t>
            </a:r>
          </a:p>
        </p:txBody>
      </p:sp>
      <p:sp>
        <p:nvSpPr>
          <p:cNvPr id="30" name="TextBox 29"/>
          <p:cNvSpPr txBox="1"/>
          <p:nvPr/>
        </p:nvSpPr>
        <p:spPr>
          <a:xfrm>
            <a:off x="8723376" y="5669279"/>
            <a:ext cx="2700497" cy="347472"/>
          </a:xfrm>
          <a:prstGeom prst="rect">
            <a:avLst/>
          </a:prstGeom>
          <a:noFill/>
        </p:spPr>
        <p:txBody>
          <a:bodyPr wrap="square" lIns="0" rIns="0" tIns="0" bIns="0" anchor="t">
            <a:spAutoFit/>
          </a:bodyPr>
          <a:lstStyle/>
          <a:p>
            <a:pPr algn="l"/>
            <a:r>
              <a:rPr sz="850" b="0">
                <a:solidFill>
                  <a:srgbClr val="9A9CAB"/>
                </a:solidFill>
                <a:latin typeface="Segoe UI"/>
                <a:cs typeface="Segoe UI"/>
              </a:rPr>
              <a:t>What's coming up, and where you are in each learning path.</a:t>
            </a:r>
          </a:p>
        </p:txBody>
      </p:sp>
      <p:sp>
        <p:nvSpPr>
          <p:cNvPr id="31" name="TextBox 30"/>
          <p:cNvSpPr txBox="1"/>
          <p:nvPr/>
        </p:nvSpPr>
        <p:spPr>
          <a:xfrm>
            <a:off x="566928" y="6089904"/>
            <a:ext cx="11058113" cy="219456"/>
          </a:xfrm>
          <a:prstGeom prst="rect">
            <a:avLst/>
          </a:prstGeom>
          <a:noFill/>
        </p:spPr>
        <p:txBody>
          <a:bodyPr wrap="square" lIns="0" rIns="0" tIns="0" bIns="0" anchor="t">
            <a:spAutoFit/>
          </a:bodyPr>
          <a:lstStyle/>
          <a:p>
            <a:pPr algn="l"/>
            <a:r>
              <a:rPr sz="850" b="0">
                <a:solidFill>
                  <a:srgbClr val="6B6D7C"/>
                </a:solidFill>
                <a:latin typeface="Segoe UI"/>
                <a:cs typeface="Segoe UI"/>
              </a:rPr>
              <a:t>Real screenshot from the running build — the sidebar, top bar and avatar all resolve from the live API.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10 · PRODUCT WALKTHROUGH</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DSA analytics and the GitHub portfolio analyzer</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9656"/>
            <a:ext cx="11058113" cy="237744"/>
          </a:xfrm>
          <a:prstGeom prst="rect">
            <a:avLst/>
          </a:prstGeom>
          <a:noFill/>
        </p:spPr>
        <p:txBody>
          <a:bodyPr wrap="square" lIns="0" rIns="0" tIns="0" bIns="0" anchor="t">
            <a:spAutoFit/>
          </a:bodyPr>
          <a:lstStyle/>
          <a:p>
            <a:pPr algn="l"/>
            <a:r>
              <a:rPr sz="1150" b="0">
                <a:solidFill>
                  <a:srgbClr val="9A9CAB"/>
                </a:solidFill>
                <a:latin typeface="Segoe UI"/>
                <a:cs typeface="Segoe UI"/>
              </a:rPr>
              <a:t>These two pages replaced a single combined 'coding analytics' screen — the data they show has different refresh rates and different owners.</a:t>
            </a:r>
          </a:p>
        </p:txBody>
      </p:sp>
      <p:sp>
        <p:nvSpPr>
          <p:cNvPr id="11" name="Rectangle 10"/>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3" name="TextBox 12"/>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13</a:t>
            </a:r>
            <a:r>
              <a:rPr sz="850" b="0">
                <a:solidFill>
                  <a:srgbClr val="6B6D7C"/>
                </a:solidFill>
                <a:latin typeface="Segoe UI"/>
                <a:cs typeface="Segoe UI"/>
              </a:rPr>
              <a:t>  /  18</a:t>
            </a:r>
          </a:p>
        </p:txBody>
      </p:sp>
      <p:sp>
        <p:nvSpPr>
          <p:cNvPr id="14" name="Rounded Rectangle 13"/>
          <p:cNvSpPr/>
          <p:nvPr/>
        </p:nvSpPr>
        <p:spPr>
          <a:xfrm>
            <a:off x="444695" y="1049731"/>
            <a:ext cx="5618073" cy="5618073"/>
          </a:xfrm>
          <a:prstGeom prst="roundRect">
            <a:avLst>
              <a:gd name="adj" fmla="val 50000"/>
            </a:avLst>
          </a:prstGeom>
          <a:solidFill>
            <a:srgbClr val="7F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3-dsa.png"/>
          <p:cNvPicPr>
            <a:picLocks noChangeAspect="1"/>
          </p:cNvPicPr>
          <p:nvPr/>
        </p:nvPicPr>
        <p:blipFill>
          <a:blip r:embed="rId3"/>
          <a:stretch>
            <a:fillRect/>
          </a:stretch>
        </p:blipFill>
        <p:spPr>
          <a:xfrm>
            <a:off x="912868" y="2395728"/>
            <a:ext cx="4681728" cy="2926080"/>
          </a:xfrm>
          <a:prstGeom prst="rect">
            <a:avLst/>
          </a:prstGeom>
        </p:spPr>
      </p:pic>
      <p:sp>
        <p:nvSpPr>
          <p:cNvPr id="16" name="Rectangle 15"/>
          <p:cNvSpPr/>
          <p:nvPr/>
        </p:nvSpPr>
        <p:spPr>
          <a:xfrm>
            <a:off x="912868" y="2395728"/>
            <a:ext cx="4681728" cy="292608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5413248"/>
            <a:ext cx="5373608" cy="603504"/>
          </a:xfrm>
          <a:prstGeom prst="rect">
            <a:avLst/>
          </a:prstGeom>
          <a:noFill/>
        </p:spPr>
        <p:txBody>
          <a:bodyPr wrap="square" lIns="0" rIns="0" tIns="0" bIns="0" anchor="t">
            <a:spAutoFit/>
          </a:bodyPr>
          <a:lstStyle/>
          <a:p>
            <a:pPr algn="l"/>
            <a:r>
              <a:rPr sz="1100" b="1">
                <a:solidFill>
                  <a:srgbClr val="FFFFFF"/>
                </a:solidFill>
                <a:latin typeface="Segoe UI"/>
                <a:cs typeface="Segoe UI"/>
              </a:rPr>
              <a:t>DSA Analytics — </a:t>
            </a:r>
            <a:r>
              <a:rPr sz="1000" b="0">
                <a:solidFill>
                  <a:srgbClr val="9A9CAB"/>
                </a:solidFill>
                <a:latin typeface="Segoe UI"/>
                <a:cs typeface="Segoe UI"/>
              </a:rPr>
              <a:t>platform cards per profile, difficulty split, topic intelligence with weak-topic flags, Codeforces rating trend, practice heatmap, and a reserved card for AI recommendations.</a:t>
            </a:r>
          </a:p>
        </p:txBody>
      </p:sp>
      <p:sp>
        <p:nvSpPr>
          <p:cNvPr id="18" name="Rounded Rectangle 17"/>
          <p:cNvSpPr/>
          <p:nvPr/>
        </p:nvSpPr>
        <p:spPr>
          <a:xfrm>
            <a:off x="6129200" y="1049731"/>
            <a:ext cx="5618073" cy="5618073"/>
          </a:xfrm>
          <a:prstGeom prst="roundRect">
            <a:avLst>
              <a:gd name="adj" fmla="val 50000"/>
            </a:avLst>
          </a:prstGeom>
          <a:solidFill>
            <a:srgbClr val="9D3B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projects.png"/>
          <p:cNvPicPr>
            <a:picLocks noChangeAspect="1"/>
          </p:cNvPicPr>
          <p:nvPr/>
        </p:nvPicPr>
        <p:blipFill>
          <a:blip r:embed="rId4"/>
          <a:stretch>
            <a:fillRect/>
          </a:stretch>
        </p:blipFill>
        <p:spPr>
          <a:xfrm>
            <a:off x="6597373" y="2395728"/>
            <a:ext cx="4681728" cy="2926080"/>
          </a:xfrm>
          <a:prstGeom prst="rect">
            <a:avLst/>
          </a:prstGeom>
        </p:spPr>
      </p:pic>
      <p:sp>
        <p:nvSpPr>
          <p:cNvPr id="20" name="Rectangle 19"/>
          <p:cNvSpPr/>
          <p:nvPr/>
        </p:nvSpPr>
        <p:spPr>
          <a:xfrm>
            <a:off x="6597373" y="2395728"/>
            <a:ext cx="4681728" cy="292608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1432" y="5413248"/>
            <a:ext cx="5373608" cy="603504"/>
          </a:xfrm>
          <a:prstGeom prst="rect">
            <a:avLst/>
          </a:prstGeom>
          <a:noFill/>
        </p:spPr>
        <p:txBody>
          <a:bodyPr wrap="square" lIns="0" rIns="0" tIns="0" bIns="0" anchor="t">
            <a:spAutoFit/>
          </a:bodyPr>
          <a:lstStyle/>
          <a:p>
            <a:pPr algn="l"/>
            <a:r>
              <a:rPr sz="1100" b="1">
                <a:solidFill>
                  <a:srgbClr val="FFFFFF"/>
                </a:solidFill>
                <a:latin typeface="Segoe UI"/>
                <a:cs typeface="Segoe UI"/>
              </a:rPr>
              <a:t>Projects — </a:t>
            </a:r>
            <a:r>
              <a:rPr sz="1000" b="0">
                <a:solidFill>
                  <a:srgbClr val="9A9CAB"/>
                </a:solidFill>
                <a:latin typeface="Segoe UI"/>
                <a:cs typeface="Segoe UI"/>
              </a:rPr>
              <a:t>GitHub statistics, a repo grid with live-demo and source links, language breakdown, and portfolio-quality scoring across documentation and 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10 · PRODUCT WALKTHROUGH</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Planning and discovery surfaces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14</a:t>
            </a:r>
            <a:r>
              <a:rPr sz="850" b="0">
                <a:solidFill>
                  <a:srgbClr val="6B6D7C"/>
                </a:solidFill>
                <a:latin typeface="Segoe UI"/>
                <a:cs typeface="Segoe UI"/>
              </a:rPr>
              <a:t>  /  18</a:t>
            </a:r>
          </a:p>
        </p:txBody>
      </p:sp>
      <p:sp>
        <p:nvSpPr>
          <p:cNvPr id="13" name="Rounded Rectangle 12"/>
          <p:cNvSpPr/>
          <p:nvPr/>
        </p:nvSpPr>
        <p:spPr>
          <a:xfrm>
            <a:off x="318900" y="1309900"/>
            <a:ext cx="2976327" cy="2976327"/>
          </a:xfrm>
          <a:prstGeom prst="roundRect">
            <a:avLst>
              <a:gd name="adj" fmla="val 50000"/>
            </a:avLst>
          </a:prstGeom>
          <a:solidFill>
            <a:srgbClr val="34D399">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5-goals.png"/>
          <p:cNvPicPr>
            <a:picLocks noChangeAspect="1"/>
          </p:cNvPicPr>
          <p:nvPr/>
        </p:nvPicPr>
        <p:blipFill>
          <a:blip r:embed="rId3"/>
          <a:stretch>
            <a:fillRect/>
          </a:stretch>
        </p:blipFill>
        <p:spPr>
          <a:xfrm>
            <a:off x="566928" y="2022978"/>
            <a:ext cx="2480272" cy="1550170"/>
          </a:xfrm>
          <a:prstGeom prst="rect">
            <a:avLst/>
          </a:prstGeom>
        </p:spPr>
      </p:pic>
      <p:sp>
        <p:nvSpPr>
          <p:cNvPr id="15" name="Rectangle 14"/>
          <p:cNvSpPr/>
          <p:nvPr/>
        </p:nvSpPr>
        <p:spPr>
          <a:xfrm>
            <a:off x="566928" y="2022978"/>
            <a:ext cx="2480272" cy="155017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2876" y="2066544"/>
            <a:ext cx="2695948" cy="237744"/>
          </a:xfrm>
          <a:prstGeom prst="rect">
            <a:avLst/>
          </a:prstGeom>
          <a:noFill/>
        </p:spPr>
        <p:txBody>
          <a:bodyPr wrap="square" lIns="0" rIns="0" tIns="0" bIns="0" anchor="t">
            <a:spAutoFit/>
          </a:bodyPr>
          <a:lstStyle/>
          <a:p>
            <a:pPr algn="l"/>
            <a:r>
              <a:rPr sz="1250" b="1">
                <a:solidFill>
                  <a:srgbClr val="FFFFFF"/>
                </a:solidFill>
                <a:latin typeface="Segoe UI"/>
                <a:cs typeface="Segoe UI"/>
              </a:rPr>
              <a:t>Goals</a:t>
            </a:r>
          </a:p>
        </p:txBody>
      </p:sp>
      <p:sp>
        <p:nvSpPr>
          <p:cNvPr id="17" name="TextBox 16"/>
          <p:cNvSpPr txBox="1"/>
          <p:nvPr/>
        </p:nvSpPr>
        <p:spPr>
          <a:xfrm>
            <a:off x="3262876" y="2377440"/>
            <a:ext cx="2695948" cy="1097280"/>
          </a:xfrm>
          <a:prstGeom prst="rect">
            <a:avLst/>
          </a:prstGeom>
          <a:noFill/>
        </p:spPr>
        <p:txBody>
          <a:bodyPr wrap="square" lIns="0" rIns="0" tIns="0" bIns="0" anchor="t">
            <a:spAutoFit/>
          </a:bodyPr>
          <a:lstStyle/>
          <a:p>
            <a:pPr algn="l"/>
            <a:r>
              <a:rPr sz="1000" b="0">
                <a:solidFill>
                  <a:srgbClr val="9A9CAB"/>
                </a:solidFill>
                <a:latin typeface="Segoe UI"/>
                <a:cs typeface="Segoe UI"/>
              </a:rPr>
              <a:t>Progress, deadlines, priority and status — with completion percentages that update from linked activity.</a:t>
            </a:r>
          </a:p>
        </p:txBody>
      </p:sp>
      <p:sp>
        <p:nvSpPr>
          <p:cNvPr id="18" name="Rounded Rectangle 17"/>
          <p:cNvSpPr/>
          <p:nvPr/>
        </p:nvSpPr>
        <p:spPr>
          <a:xfrm>
            <a:off x="5985117" y="1309900"/>
            <a:ext cx="2976327" cy="2976327"/>
          </a:xfrm>
          <a:prstGeom prst="roundRect">
            <a:avLst>
              <a:gd name="adj" fmla="val 50000"/>
            </a:avLst>
          </a:prstGeom>
          <a:solidFill>
            <a:srgbClr val="9D3B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roadmaps.png"/>
          <p:cNvPicPr>
            <a:picLocks noChangeAspect="1"/>
          </p:cNvPicPr>
          <p:nvPr/>
        </p:nvPicPr>
        <p:blipFill>
          <a:blip r:embed="rId4"/>
          <a:stretch>
            <a:fillRect/>
          </a:stretch>
        </p:blipFill>
        <p:spPr>
          <a:xfrm>
            <a:off x="6233144" y="2022978"/>
            <a:ext cx="2480272" cy="1550170"/>
          </a:xfrm>
          <a:prstGeom prst="rect">
            <a:avLst/>
          </a:prstGeom>
        </p:spPr>
      </p:pic>
      <p:sp>
        <p:nvSpPr>
          <p:cNvPr id="20" name="Rectangle 19"/>
          <p:cNvSpPr/>
          <p:nvPr/>
        </p:nvSpPr>
        <p:spPr>
          <a:xfrm>
            <a:off x="6233144" y="2022978"/>
            <a:ext cx="2480272" cy="155017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29093" y="2066544"/>
            <a:ext cx="2695948" cy="237744"/>
          </a:xfrm>
          <a:prstGeom prst="rect">
            <a:avLst/>
          </a:prstGeom>
          <a:noFill/>
        </p:spPr>
        <p:txBody>
          <a:bodyPr wrap="square" lIns="0" rIns="0" tIns="0" bIns="0" anchor="t">
            <a:spAutoFit/>
          </a:bodyPr>
          <a:lstStyle/>
          <a:p>
            <a:pPr algn="l"/>
            <a:r>
              <a:rPr sz="1250" b="1">
                <a:solidFill>
                  <a:srgbClr val="FFFFFF"/>
                </a:solidFill>
                <a:latin typeface="Segoe UI"/>
                <a:cs typeface="Segoe UI"/>
              </a:rPr>
              <a:t>Roadmaps</a:t>
            </a:r>
          </a:p>
        </p:txBody>
      </p:sp>
      <p:sp>
        <p:nvSpPr>
          <p:cNvPr id="22" name="TextBox 21"/>
          <p:cNvSpPr txBox="1"/>
          <p:nvPr/>
        </p:nvSpPr>
        <p:spPr>
          <a:xfrm>
            <a:off x="8929093" y="2377440"/>
            <a:ext cx="2695948" cy="1097280"/>
          </a:xfrm>
          <a:prstGeom prst="rect">
            <a:avLst/>
          </a:prstGeom>
          <a:noFill/>
        </p:spPr>
        <p:txBody>
          <a:bodyPr wrap="square" lIns="0" rIns="0" tIns="0" bIns="0" anchor="t">
            <a:spAutoFit/>
          </a:bodyPr>
          <a:lstStyle/>
          <a:p>
            <a:pPr algn="l"/>
            <a:r>
              <a:rPr sz="1000" b="0">
                <a:solidFill>
                  <a:srgbClr val="9A9CAB"/>
                </a:solidFill>
                <a:latin typeface="Segoe UI"/>
                <a:cs typeface="Segoe UI"/>
              </a:rPr>
              <a:t>Curated Java Backend, Full Stack, AI, DevOps and Competitive Programming paths with staged progress.</a:t>
            </a:r>
          </a:p>
        </p:txBody>
      </p:sp>
      <p:sp>
        <p:nvSpPr>
          <p:cNvPr id="23" name="Rounded Rectangle 22"/>
          <p:cNvSpPr/>
          <p:nvPr/>
        </p:nvSpPr>
        <p:spPr>
          <a:xfrm>
            <a:off x="318900" y="4053100"/>
            <a:ext cx="2976327" cy="2976327"/>
          </a:xfrm>
          <a:prstGeom prst="roundRect">
            <a:avLst>
              <a:gd name="adj" fmla="val 50000"/>
            </a:avLst>
          </a:prstGeom>
          <a:solidFill>
            <a:srgbClr val="7FD4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7-contests.png"/>
          <p:cNvPicPr>
            <a:picLocks noChangeAspect="1"/>
          </p:cNvPicPr>
          <p:nvPr/>
        </p:nvPicPr>
        <p:blipFill>
          <a:blip r:embed="rId5"/>
          <a:stretch>
            <a:fillRect/>
          </a:stretch>
        </p:blipFill>
        <p:spPr>
          <a:xfrm>
            <a:off x="566928" y="4766178"/>
            <a:ext cx="2480272" cy="1550170"/>
          </a:xfrm>
          <a:prstGeom prst="rect">
            <a:avLst/>
          </a:prstGeom>
        </p:spPr>
      </p:pic>
      <p:sp>
        <p:nvSpPr>
          <p:cNvPr id="25" name="Rectangle 24"/>
          <p:cNvSpPr/>
          <p:nvPr/>
        </p:nvSpPr>
        <p:spPr>
          <a:xfrm>
            <a:off x="566928" y="4766178"/>
            <a:ext cx="2480272" cy="155017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2876" y="4809744"/>
            <a:ext cx="2695948" cy="237744"/>
          </a:xfrm>
          <a:prstGeom prst="rect">
            <a:avLst/>
          </a:prstGeom>
          <a:noFill/>
        </p:spPr>
        <p:txBody>
          <a:bodyPr wrap="square" lIns="0" rIns="0" tIns="0" bIns="0" anchor="t">
            <a:spAutoFit/>
          </a:bodyPr>
          <a:lstStyle/>
          <a:p>
            <a:pPr algn="l"/>
            <a:r>
              <a:rPr sz="1250" b="1">
                <a:solidFill>
                  <a:srgbClr val="FFFFFF"/>
                </a:solidFill>
                <a:latin typeface="Segoe UI"/>
                <a:cs typeface="Segoe UI"/>
              </a:rPr>
              <a:t>Contests</a:t>
            </a:r>
          </a:p>
        </p:txBody>
      </p:sp>
      <p:sp>
        <p:nvSpPr>
          <p:cNvPr id="27" name="TextBox 26"/>
          <p:cNvSpPr txBox="1"/>
          <p:nvPr/>
        </p:nvSpPr>
        <p:spPr>
          <a:xfrm>
            <a:off x="3262876" y="5120640"/>
            <a:ext cx="2695948" cy="1097280"/>
          </a:xfrm>
          <a:prstGeom prst="rect">
            <a:avLst/>
          </a:prstGeom>
          <a:noFill/>
        </p:spPr>
        <p:txBody>
          <a:bodyPr wrap="square" lIns="0" rIns="0" tIns="0" bIns="0" anchor="t">
            <a:spAutoFit/>
          </a:bodyPr>
          <a:lstStyle/>
          <a:p>
            <a:pPr algn="l"/>
            <a:r>
              <a:rPr sz="1000" b="0">
                <a:solidFill>
                  <a:srgbClr val="9A9CAB"/>
                </a:solidFill>
                <a:latin typeface="Segoe UI"/>
                <a:cs typeface="Segoe UI"/>
              </a:rPr>
              <a:t>A single timeline across LeetCode, Codeforces, CodeChef and AtCoder, with start times and bookmarks.</a:t>
            </a:r>
          </a:p>
        </p:txBody>
      </p:sp>
      <p:sp>
        <p:nvSpPr>
          <p:cNvPr id="28" name="Rounded Rectangle 27"/>
          <p:cNvSpPr/>
          <p:nvPr/>
        </p:nvSpPr>
        <p:spPr>
          <a:xfrm>
            <a:off x="5985117" y="4053100"/>
            <a:ext cx="2976327" cy="2976327"/>
          </a:xfrm>
          <a:prstGeom prst="roundRect">
            <a:avLst>
              <a:gd name="adj" fmla="val 50000"/>
            </a:avLst>
          </a:prstGeom>
          <a:solidFill>
            <a:srgbClr val="FBBF2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08-hackathons.png"/>
          <p:cNvPicPr>
            <a:picLocks noChangeAspect="1"/>
          </p:cNvPicPr>
          <p:nvPr/>
        </p:nvPicPr>
        <p:blipFill>
          <a:blip r:embed="rId6"/>
          <a:stretch>
            <a:fillRect/>
          </a:stretch>
        </p:blipFill>
        <p:spPr>
          <a:xfrm>
            <a:off x="6233144" y="4766178"/>
            <a:ext cx="2480272" cy="1550170"/>
          </a:xfrm>
          <a:prstGeom prst="rect">
            <a:avLst/>
          </a:prstGeom>
        </p:spPr>
      </p:pic>
      <p:sp>
        <p:nvSpPr>
          <p:cNvPr id="30" name="Rectangle 29"/>
          <p:cNvSpPr/>
          <p:nvPr/>
        </p:nvSpPr>
        <p:spPr>
          <a:xfrm>
            <a:off x="6233144" y="4766178"/>
            <a:ext cx="2480272" cy="1550170"/>
          </a:xfrm>
          <a:prstGeom prst="rect">
            <a:avLst/>
          </a:prstGeom>
          <a:noFill/>
          <a:ln w="12700">
            <a:solidFill>
              <a:srgbClr val="FFFFFF">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29093" y="4809744"/>
            <a:ext cx="2695948" cy="237744"/>
          </a:xfrm>
          <a:prstGeom prst="rect">
            <a:avLst/>
          </a:prstGeom>
          <a:noFill/>
        </p:spPr>
        <p:txBody>
          <a:bodyPr wrap="square" lIns="0" rIns="0" tIns="0" bIns="0" anchor="t">
            <a:spAutoFit/>
          </a:bodyPr>
          <a:lstStyle/>
          <a:p>
            <a:pPr algn="l"/>
            <a:r>
              <a:rPr sz="1250" b="1">
                <a:solidFill>
                  <a:srgbClr val="FFFFFF"/>
                </a:solidFill>
                <a:latin typeface="Segoe UI"/>
                <a:cs typeface="Segoe UI"/>
              </a:rPr>
              <a:t>Hackathons</a:t>
            </a:r>
          </a:p>
        </p:txBody>
      </p:sp>
      <p:sp>
        <p:nvSpPr>
          <p:cNvPr id="32" name="TextBox 31"/>
          <p:cNvSpPr txBox="1"/>
          <p:nvPr/>
        </p:nvSpPr>
        <p:spPr>
          <a:xfrm>
            <a:off x="8929093" y="5120640"/>
            <a:ext cx="2695948" cy="1097280"/>
          </a:xfrm>
          <a:prstGeom prst="rect">
            <a:avLst/>
          </a:prstGeom>
          <a:noFill/>
        </p:spPr>
        <p:txBody>
          <a:bodyPr wrap="square" lIns="0" rIns="0" tIns="0" bIns="0" anchor="t">
            <a:spAutoFit/>
          </a:bodyPr>
          <a:lstStyle/>
          <a:p>
            <a:pPr algn="l"/>
            <a:r>
              <a:rPr sz="1000" b="0">
                <a:solidFill>
                  <a:srgbClr val="9A9CAB"/>
                </a:solidFill>
                <a:latin typeface="Segoe UI"/>
                <a:cs typeface="Segoe UI"/>
              </a:rPr>
              <a:t>Search and filter by mode, team size, theme and prize pool, with bookmarks and admin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11 · ROADMAP &amp; FUTURE SCOPE</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Where the build stands, stage by stage</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15</a:t>
            </a:r>
            <a:r>
              <a:rPr sz="850" b="0">
                <a:solidFill>
                  <a:srgbClr val="6B6D7C"/>
                </a:solidFill>
                <a:latin typeface="Segoe UI"/>
                <a:cs typeface="Segoe UI"/>
              </a:rPr>
              <a:t>  /  18</a:t>
            </a:r>
          </a:p>
        </p:txBody>
      </p:sp>
      <p:sp>
        <p:nvSpPr>
          <p:cNvPr id="13" name="Rounded Rectangle 12"/>
          <p:cNvSpPr/>
          <p:nvPr/>
        </p:nvSpPr>
        <p:spPr>
          <a:xfrm>
            <a:off x="566928" y="2048256"/>
            <a:ext cx="11058113" cy="146304"/>
          </a:xfrm>
          <a:prstGeom prst="roundRect">
            <a:avLst>
              <a:gd name="adj" fmla="val 50000"/>
            </a:avLst>
          </a:prstGeom>
          <a:solidFill>
            <a:srgbClr val="14141F">
              <a:alpha val="100000"/>
            </a:srgbClr>
          </a:solidFill>
          <a:ln w="9525">
            <a:solidFill>
              <a:srgbClr val="FFFFFF">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2048256"/>
            <a:ext cx="4423245" cy="146304"/>
          </a:xfrm>
          <a:prstGeom prst="roundRect">
            <a:avLst>
              <a:gd name="adj" fmla="val 50000"/>
            </a:avLst>
          </a:prstGeom>
          <a:solidFill>
            <a:srgbClr val="2F7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249424"/>
            <a:ext cx="5486400" cy="201168"/>
          </a:xfrm>
          <a:prstGeom prst="rect">
            <a:avLst/>
          </a:prstGeom>
          <a:noFill/>
        </p:spPr>
        <p:txBody>
          <a:bodyPr wrap="square" lIns="0" rIns="0" tIns="0" bIns="0" anchor="t">
            <a:spAutoFit/>
          </a:bodyPr>
          <a:lstStyle/>
          <a:p>
            <a:pPr algn="l"/>
            <a:r>
              <a:rPr sz="950" b="0">
                <a:solidFill>
                  <a:srgbClr val="E8E9F0"/>
                </a:solidFill>
                <a:latin typeface="Segoe UI"/>
                <a:cs typeface="Segoe UI"/>
              </a:rPr>
              <a:t>Stages 0–3 complete  ·  roughly 40% of the planned build</a:t>
            </a:r>
          </a:p>
        </p:txBody>
      </p:sp>
      <p:sp>
        <p:nvSpPr>
          <p:cNvPr id="16" name="TextBox 15"/>
          <p:cNvSpPr txBox="1"/>
          <p:nvPr/>
        </p:nvSpPr>
        <p:spPr>
          <a:xfrm>
            <a:off x="7967441" y="2249424"/>
            <a:ext cx="3657600" cy="201168"/>
          </a:xfrm>
          <a:prstGeom prst="rect">
            <a:avLst/>
          </a:prstGeom>
          <a:noFill/>
        </p:spPr>
        <p:txBody>
          <a:bodyPr wrap="square" lIns="0" rIns="0" tIns="0" bIns="0" anchor="t">
            <a:spAutoFit/>
          </a:bodyPr>
          <a:lstStyle/>
          <a:p>
            <a:pPr algn="l"/>
            <a:r>
              <a:rPr sz="950" b="0">
                <a:solidFill>
                  <a:srgbClr val="9A9CAB"/>
                </a:solidFill>
                <a:latin typeface="Segoe UI"/>
                <a:cs typeface="Segoe UI"/>
              </a:rPr>
              <a:t>8–10 weeks part-time remaining</a:t>
            </a:r>
          </a:p>
        </p:txBody>
      </p:sp>
      <p:sp>
        <p:nvSpPr>
          <p:cNvPr id="17" name="Rounded Rectangle 16"/>
          <p:cNvSpPr/>
          <p:nvPr/>
        </p:nvSpPr>
        <p:spPr>
          <a:xfrm>
            <a:off x="566928" y="2651760"/>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6384" y="2889504"/>
            <a:ext cx="100584" cy="100584"/>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2825496"/>
            <a:ext cx="1465472" cy="237744"/>
          </a:xfrm>
          <a:prstGeom prst="rect">
            <a:avLst/>
          </a:prstGeom>
          <a:noFill/>
        </p:spPr>
        <p:txBody>
          <a:bodyPr wrap="square" lIns="0" rIns="0" tIns="0" bIns="0" anchor="t">
            <a:spAutoFit/>
          </a:bodyPr>
          <a:lstStyle/>
          <a:p>
            <a:pPr algn="l"/>
            <a:r>
              <a:rPr sz="850" b="1" spc="120">
                <a:solidFill>
                  <a:srgbClr val="34D399"/>
                </a:solidFill>
                <a:latin typeface="Segoe UI"/>
                <a:cs typeface="Segoe UI"/>
              </a:rPr>
              <a:t>STAGE 0</a:t>
            </a:r>
          </a:p>
        </p:txBody>
      </p:sp>
      <p:sp>
        <p:nvSpPr>
          <p:cNvPr id="20" name="TextBox 19"/>
          <p:cNvSpPr txBox="1"/>
          <p:nvPr/>
        </p:nvSpPr>
        <p:spPr>
          <a:xfrm>
            <a:off x="786384" y="3200400"/>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Contracts &amp; docs</a:t>
            </a:r>
          </a:p>
        </p:txBody>
      </p:sp>
      <p:sp>
        <p:nvSpPr>
          <p:cNvPr id="21" name="Rounded Rectangle 20"/>
          <p:cNvSpPr/>
          <p:nvPr/>
        </p:nvSpPr>
        <p:spPr>
          <a:xfrm>
            <a:off x="786384" y="3712463"/>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712463"/>
            <a:ext cx="1648352" cy="256032"/>
          </a:xfrm>
          <a:prstGeom prst="rect">
            <a:avLst/>
          </a:prstGeom>
          <a:noFill/>
        </p:spPr>
        <p:txBody>
          <a:bodyPr wrap="square" lIns="0" rIns="0" tIns="0" bIns="0" anchor="ctr">
            <a:spAutoFit/>
          </a:bodyPr>
          <a:lstStyle/>
          <a:p>
            <a:pPr algn="ctr"/>
            <a:r>
              <a:rPr sz="850" b="0">
                <a:solidFill>
                  <a:srgbClr val="34D399"/>
                </a:solidFill>
                <a:latin typeface="Segoe UI"/>
                <a:cs typeface="Segoe UI"/>
              </a:rPr>
              <a:t>Verified</a:t>
            </a:r>
          </a:p>
        </p:txBody>
      </p:sp>
      <p:sp>
        <p:nvSpPr>
          <p:cNvPr id="23" name="Rounded Rectangle 22"/>
          <p:cNvSpPr/>
          <p:nvPr/>
        </p:nvSpPr>
        <p:spPr>
          <a:xfrm>
            <a:off x="2809640" y="2651760"/>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029096" y="2889504"/>
            <a:ext cx="100584" cy="100584"/>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11976" y="2825496"/>
            <a:ext cx="1465472" cy="237744"/>
          </a:xfrm>
          <a:prstGeom prst="rect">
            <a:avLst/>
          </a:prstGeom>
          <a:noFill/>
        </p:spPr>
        <p:txBody>
          <a:bodyPr wrap="square" lIns="0" rIns="0" tIns="0" bIns="0" anchor="t">
            <a:spAutoFit/>
          </a:bodyPr>
          <a:lstStyle/>
          <a:p>
            <a:pPr algn="l"/>
            <a:r>
              <a:rPr sz="850" b="1" spc="120">
                <a:solidFill>
                  <a:srgbClr val="34D399"/>
                </a:solidFill>
                <a:latin typeface="Segoe UI"/>
                <a:cs typeface="Segoe UI"/>
              </a:rPr>
              <a:t>STAGE 1</a:t>
            </a:r>
          </a:p>
        </p:txBody>
      </p:sp>
      <p:sp>
        <p:nvSpPr>
          <p:cNvPr id="26" name="TextBox 25"/>
          <p:cNvSpPr txBox="1"/>
          <p:nvPr/>
        </p:nvSpPr>
        <p:spPr>
          <a:xfrm>
            <a:off x="3029096" y="3200400"/>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Database &amp; migrations</a:t>
            </a:r>
          </a:p>
        </p:txBody>
      </p:sp>
      <p:sp>
        <p:nvSpPr>
          <p:cNvPr id="27" name="Rounded Rectangle 26"/>
          <p:cNvSpPr/>
          <p:nvPr/>
        </p:nvSpPr>
        <p:spPr>
          <a:xfrm>
            <a:off x="3029096" y="3712463"/>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29096" y="3712463"/>
            <a:ext cx="1648352" cy="256032"/>
          </a:xfrm>
          <a:prstGeom prst="rect">
            <a:avLst/>
          </a:prstGeom>
          <a:noFill/>
        </p:spPr>
        <p:txBody>
          <a:bodyPr wrap="square" lIns="0" rIns="0" tIns="0" bIns="0" anchor="ctr">
            <a:spAutoFit/>
          </a:bodyPr>
          <a:lstStyle/>
          <a:p>
            <a:pPr algn="ctr"/>
            <a:r>
              <a:rPr sz="850" b="0">
                <a:solidFill>
                  <a:srgbClr val="34D399"/>
                </a:solidFill>
                <a:latin typeface="Segoe UI"/>
                <a:cs typeface="Segoe UI"/>
              </a:rPr>
              <a:t>Verified</a:t>
            </a:r>
          </a:p>
        </p:txBody>
      </p:sp>
      <p:sp>
        <p:nvSpPr>
          <p:cNvPr id="29" name="Rounded Rectangle 28"/>
          <p:cNvSpPr/>
          <p:nvPr/>
        </p:nvSpPr>
        <p:spPr>
          <a:xfrm>
            <a:off x="5052352" y="2651760"/>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71808" y="2889504"/>
            <a:ext cx="100584" cy="100584"/>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54688" y="2825496"/>
            <a:ext cx="1465472" cy="237744"/>
          </a:xfrm>
          <a:prstGeom prst="rect">
            <a:avLst/>
          </a:prstGeom>
          <a:noFill/>
        </p:spPr>
        <p:txBody>
          <a:bodyPr wrap="square" lIns="0" rIns="0" tIns="0" bIns="0" anchor="t">
            <a:spAutoFit/>
          </a:bodyPr>
          <a:lstStyle/>
          <a:p>
            <a:pPr algn="l"/>
            <a:r>
              <a:rPr sz="850" b="1" spc="120">
                <a:solidFill>
                  <a:srgbClr val="34D399"/>
                </a:solidFill>
                <a:latin typeface="Segoe UI"/>
                <a:cs typeface="Segoe UI"/>
              </a:rPr>
              <a:t>STAGE 2</a:t>
            </a:r>
          </a:p>
        </p:txBody>
      </p:sp>
      <p:sp>
        <p:nvSpPr>
          <p:cNvPr id="32" name="TextBox 31"/>
          <p:cNvSpPr txBox="1"/>
          <p:nvPr/>
        </p:nvSpPr>
        <p:spPr>
          <a:xfrm>
            <a:off x="5271808" y="3200400"/>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Backend skeleton</a:t>
            </a:r>
          </a:p>
        </p:txBody>
      </p:sp>
      <p:sp>
        <p:nvSpPr>
          <p:cNvPr id="33" name="Rounded Rectangle 32"/>
          <p:cNvSpPr/>
          <p:nvPr/>
        </p:nvSpPr>
        <p:spPr>
          <a:xfrm>
            <a:off x="5271808" y="3712463"/>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1808" y="3712463"/>
            <a:ext cx="1648352" cy="256032"/>
          </a:xfrm>
          <a:prstGeom prst="rect">
            <a:avLst/>
          </a:prstGeom>
          <a:noFill/>
        </p:spPr>
        <p:txBody>
          <a:bodyPr wrap="square" lIns="0" rIns="0" tIns="0" bIns="0" anchor="ctr">
            <a:spAutoFit/>
          </a:bodyPr>
          <a:lstStyle/>
          <a:p>
            <a:pPr algn="ctr"/>
            <a:r>
              <a:rPr sz="850" b="0">
                <a:solidFill>
                  <a:srgbClr val="34D399"/>
                </a:solidFill>
                <a:latin typeface="Segoe UI"/>
                <a:cs typeface="Segoe UI"/>
              </a:rPr>
              <a:t>Verified</a:t>
            </a:r>
          </a:p>
        </p:txBody>
      </p:sp>
      <p:sp>
        <p:nvSpPr>
          <p:cNvPr id="35" name="Rounded Rectangle 34"/>
          <p:cNvSpPr/>
          <p:nvPr/>
        </p:nvSpPr>
        <p:spPr>
          <a:xfrm>
            <a:off x="7295064" y="2651760"/>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514520" y="2889504"/>
            <a:ext cx="100584" cy="100584"/>
          </a:xfrm>
          <a:prstGeom prst="ellipse">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97400" y="2825496"/>
            <a:ext cx="1465472" cy="237744"/>
          </a:xfrm>
          <a:prstGeom prst="rect">
            <a:avLst/>
          </a:prstGeom>
          <a:noFill/>
        </p:spPr>
        <p:txBody>
          <a:bodyPr wrap="square" lIns="0" rIns="0" tIns="0" bIns="0" anchor="t">
            <a:spAutoFit/>
          </a:bodyPr>
          <a:lstStyle/>
          <a:p>
            <a:pPr algn="l"/>
            <a:r>
              <a:rPr sz="850" b="1" spc="120">
                <a:solidFill>
                  <a:srgbClr val="34D399"/>
                </a:solidFill>
                <a:latin typeface="Segoe UI"/>
                <a:cs typeface="Segoe UI"/>
              </a:rPr>
              <a:t>STAGE 3</a:t>
            </a:r>
          </a:p>
        </p:txBody>
      </p:sp>
      <p:sp>
        <p:nvSpPr>
          <p:cNvPr id="38" name="TextBox 37"/>
          <p:cNvSpPr txBox="1"/>
          <p:nvPr/>
        </p:nvSpPr>
        <p:spPr>
          <a:xfrm>
            <a:off x="7514520" y="3200400"/>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Auth &amp; identity</a:t>
            </a:r>
          </a:p>
        </p:txBody>
      </p:sp>
      <p:sp>
        <p:nvSpPr>
          <p:cNvPr id="39" name="Rounded Rectangle 38"/>
          <p:cNvSpPr/>
          <p:nvPr/>
        </p:nvSpPr>
        <p:spPr>
          <a:xfrm>
            <a:off x="7514520" y="3712463"/>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14520" y="3712463"/>
            <a:ext cx="1648352" cy="256032"/>
          </a:xfrm>
          <a:prstGeom prst="rect">
            <a:avLst/>
          </a:prstGeom>
          <a:noFill/>
        </p:spPr>
        <p:txBody>
          <a:bodyPr wrap="square" lIns="0" rIns="0" tIns="0" bIns="0" anchor="ctr">
            <a:spAutoFit/>
          </a:bodyPr>
          <a:lstStyle/>
          <a:p>
            <a:pPr algn="ctr"/>
            <a:r>
              <a:rPr sz="850" b="0">
                <a:solidFill>
                  <a:srgbClr val="34D399"/>
                </a:solidFill>
                <a:latin typeface="Segoe UI"/>
                <a:cs typeface="Segoe UI"/>
              </a:rPr>
              <a:t>Verified</a:t>
            </a:r>
          </a:p>
        </p:txBody>
      </p:sp>
      <p:sp>
        <p:nvSpPr>
          <p:cNvPr id="41" name="Rounded Rectangle 40"/>
          <p:cNvSpPr/>
          <p:nvPr/>
        </p:nvSpPr>
        <p:spPr>
          <a:xfrm>
            <a:off x="9537777" y="2651760"/>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757233" y="2889504"/>
            <a:ext cx="100584" cy="100584"/>
          </a:xfrm>
          <a:prstGeom prst="ellipse">
            <a:avLst/>
          </a:prstGeom>
          <a:solidFill>
            <a:srgbClr val="4F8C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40113" y="2825496"/>
            <a:ext cx="1465472" cy="237744"/>
          </a:xfrm>
          <a:prstGeom prst="rect">
            <a:avLst/>
          </a:prstGeom>
          <a:noFill/>
        </p:spPr>
        <p:txBody>
          <a:bodyPr wrap="square" lIns="0" rIns="0" tIns="0" bIns="0" anchor="t">
            <a:spAutoFit/>
          </a:bodyPr>
          <a:lstStyle/>
          <a:p>
            <a:pPr algn="l"/>
            <a:r>
              <a:rPr sz="850" b="1" spc="120">
                <a:solidFill>
                  <a:srgbClr val="4F8CFF"/>
                </a:solidFill>
                <a:latin typeface="Segoe UI"/>
                <a:cs typeface="Segoe UI"/>
              </a:rPr>
              <a:t>STAGE 4</a:t>
            </a:r>
          </a:p>
        </p:txBody>
      </p:sp>
      <p:sp>
        <p:nvSpPr>
          <p:cNvPr id="44" name="TextBox 43"/>
          <p:cNvSpPr txBox="1"/>
          <p:nvPr/>
        </p:nvSpPr>
        <p:spPr>
          <a:xfrm>
            <a:off x="9757233" y="3200400"/>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Goals vertical slice</a:t>
            </a:r>
          </a:p>
        </p:txBody>
      </p:sp>
      <p:sp>
        <p:nvSpPr>
          <p:cNvPr id="45" name="Rounded Rectangle 44"/>
          <p:cNvSpPr/>
          <p:nvPr/>
        </p:nvSpPr>
        <p:spPr>
          <a:xfrm>
            <a:off x="9757233" y="3712463"/>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57233" y="3712463"/>
            <a:ext cx="1648352" cy="256032"/>
          </a:xfrm>
          <a:prstGeom prst="rect">
            <a:avLst/>
          </a:prstGeom>
          <a:noFill/>
        </p:spPr>
        <p:txBody>
          <a:bodyPr wrap="square" lIns="0" rIns="0" tIns="0" bIns="0" anchor="ctr">
            <a:spAutoFit/>
          </a:bodyPr>
          <a:lstStyle/>
          <a:p>
            <a:pPr algn="ctr"/>
            <a:r>
              <a:rPr sz="850" b="0">
                <a:solidFill>
                  <a:srgbClr val="4F8CFF"/>
                </a:solidFill>
                <a:latin typeface="Segoe UI"/>
                <a:cs typeface="Segoe UI"/>
              </a:rPr>
              <a:t>In progress</a:t>
            </a:r>
          </a:p>
        </p:txBody>
      </p:sp>
      <p:sp>
        <p:nvSpPr>
          <p:cNvPr id="47" name="Rounded Rectangle 46"/>
          <p:cNvSpPr/>
          <p:nvPr/>
        </p:nvSpPr>
        <p:spPr>
          <a:xfrm>
            <a:off x="566928" y="4334256"/>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86384" y="4572000"/>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9264" y="4507992"/>
            <a:ext cx="1465472" cy="237744"/>
          </a:xfrm>
          <a:prstGeom prst="rect">
            <a:avLst/>
          </a:prstGeom>
          <a:noFill/>
        </p:spPr>
        <p:txBody>
          <a:bodyPr wrap="square" lIns="0" rIns="0" tIns="0" bIns="0" anchor="t">
            <a:spAutoFit/>
          </a:bodyPr>
          <a:lstStyle/>
          <a:p>
            <a:pPr algn="l"/>
            <a:r>
              <a:rPr sz="850" b="1" spc="120">
                <a:solidFill>
                  <a:srgbClr val="6B7280"/>
                </a:solidFill>
                <a:latin typeface="Segoe UI"/>
                <a:cs typeface="Segoe UI"/>
              </a:rPr>
              <a:t>STAGE 5</a:t>
            </a:r>
          </a:p>
        </p:txBody>
      </p:sp>
      <p:sp>
        <p:nvSpPr>
          <p:cNvPr id="50" name="TextBox 49"/>
          <p:cNvSpPr txBox="1"/>
          <p:nvPr/>
        </p:nvSpPr>
        <p:spPr>
          <a:xfrm>
            <a:off x="786384" y="4882896"/>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Feature fan-out</a:t>
            </a:r>
          </a:p>
        </p:txBody>
      </p:sp>
      <p:sp>
        <p:nvSpPr>
          <p:cNvPr id="51" name="Rounded Rectangle 50"/>
          <p:cNvSpPr/>
          <p:nvPr/>
        </p:nvSpPr>
        <p:spPr>
          <a:xfrm>
            <a:off x="786384" y="5394960"/>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6384" y="5394960"/>
            <a:ext cx="1648352" cy="256032"/>
          </a:xfrm>
          <a:prstGeom prst="rect">
            <a:avLst/>
          </a:prstGeom>
          <a:noFill/>
        </p:spPr>
        <p:txBody>
          <a:bodyPr wrap="square" lIns="0" rIns="0" tIns="0" bIns="0" anchor="ctr">
            <a:spAutoFit/>
          </a:bodyPr>
          <a:lstStyle/>
          <a:p>
            <a:pPr algn="ctr"/>
            <a:r>
              <a:rPr sz="850" b="0">
                <a:solidFill>
                  <a:srgbClr val="6B7280"/>
                </a:solidFill>
                <a:latin typeface="Segoe UI"/>
                <a:cs typeface="Segoe UI"/>
              </a:rPr>
              <a:t>Planned</a:t>
            </a:r>
          </a:p>
        </p:txBody>
      </p:sp>
      <p:sp>
        <p:nvSpPr>
          <p:cNvPr id="53" name="Rounded Rectangle 52"/>
          <p:cNvSpPr/>
          <p:nvPr/>
        </p:nvSpPr>
        <p:spPr>
          <a:xfrm>
            <a:off x="2809640" y="4334256"/>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029096" y="4572000"/>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11976" y="4507992"/>
            <a:ext cx="1465472" cy="237744"/>
          </a:xfrm>
          <a:prstGeom prst="rect">
            <a:avLst/>
          </a:prstGeom>
          <a:noFill/>
        </p:spPr>
        <p:txBody>
          <a:bodyPr wrap="square" lIns="0" rIns="0" tIns="0" bIns="0" anchor="t">
            <a:spAutoFit/>
          </a:bodyPr>
          <a:lstStyle/>
          <a:p>
            <a:pPr algn="l"/>
            <a:r>
              <a:rPr sz="850" b="1" spc="120">
                <a:solidFill>
                  <a:srgbClr val="6B7280"/>
                </a:solidFill>
                <a:latin typeface="Segoe UI"/>
                <a:cs typeface="Segoe UI"/>
              </a:rPr>
              <a:t>STAGE 6</a:t>
            </a:r>
          </a:p>
        </p:txBody>
      </p:sp>
      <p:sp>
        <p:nvSpPr>
          <p:cNvPr id="56" name="TextBox 55"/>
          <p:cNvSpPr txBox="1"/>
          <p:nvPr/>
        </p:nvSpPr>
        <p:spPr>
          <a:xfrm>
            <a:off x="3029096" y="4882896"/>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Platform sync engine</a:t>
            </a:r>
          </a:p>
        </p:txBody>
      </p:sp>
      <p:sp>
        <p:nvSpPr>
          <p:cNvPr id="57" name="Rounded Rectangle 56"/>
          <p:cNvSpPr/>
          <p:nvPr/>
        </p:nvSpPr>
        <p:spPr>
          <a:xfrm>
            <a:off x="3029096" y="5394960"/>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29096" y="5394960"/>
            <a:ext cx="1648352" cy="256032"/>
          </a:xfrm>
          <a:prstGeom prst="rect">
            <a:avLst/>
          </a:prstGeom>
          <a:noFill/>
        </p:spPr>
        <p:txBody>
          <a:bodyPr wrap="square" lIns="0" rIns="0" tIns="0" bIns="0" anchor="ctr">
            <a:spAutoFit/>
          </a:bodyPr>
          <a:lstStyle/>
          <a:p>
            <a:pPr algn="ctr"/>
            <a:r>
              <a:rPr sz="850" b="0">
                <a:solidFill>
                  <a:srgbClr val="6B7280"/>
                </a:solidFill>
                <a:latin typeface="Segoe UI"/>
                <a:cs typeface="Segoe UI"/>
              </a:rPr>
              <a:t>Planned</a:t>
            </a:r>
          </a:p>
        </p:txBody>
      </p:sp>
      <p:sp>
        <p:nvSpPr>
          <p:cNvPr id="59" name="Rounded Rectangle 58"/>
          <p:cNvSpPr/>
          <p:nvPr/>
        </p:nvSpPr>
        <p:spPr>
          <a:xfrm>
            <a:off x="5052352" y="4334256"/>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271808" y="4572000"/>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54688" y="4507992"/>
            <a:ext cx="1465472" cy="237744"/>
          </a:xfrm>
          <a:prstGeom prst="rect">
            <a:avLst/>
          </a:prstGeom>
          <a:noFill/>
        </p:spPr>
        <p:txBody>
          <a:bodyPr wrap="square" lIns="0" rIns="0" tIns="0" bIns="0" anchor="t">
            <a:spAutoFit/>
          </a:bodyPr>
          <a:lstStyle/>
          <a:p>
            <a:pPr algn="l"/>
            <a:r>
              <a:rPr sz="850" b="1" spc="120">
                <a:solidFill>
                  <a:srgbClr val="6B7280"/>
                </a:solidFill>
                <a:latin typeface="Segoe UI"/>
                <a:cs typeface="Segoe UI"/>
              </a:rPr>
              <a:t>STAGE 7</a:t>
            </a:r>
          </a:p>
        </p:txBody>
      </p:sp>
      <p:sp>
        <p:nvSpPr>
          <p:cNvPr id="62" name="TextBox 61"/>
          <p:cNvSpPr txBox="1"/>
          <p:nvPr/>
        </p:nvSpPr>
        <p:spPr>
          <a:xfrm>
            <a:off x="5271808" y="4882896"/>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Recommendations</a:t>
            </a:r>
          </a:p>
        </p:txBody>
      </p:sp>
      <p:sp>
        <p:nvSpPr>
          <p:cNvPr id="63" name="Rounded Rectangle 62"/>
          <p:cNvSpPr/>
          <p:nvPr/>
        </p:nvSpPr>
        <p:spPr>
          <a:xfrm>
            <a:off x="5271808" y="5394960"/>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71808" y="5394960"/>
            <a:ext cx="1648352" cy="256032"/>
          </a:xfrm>
          <a:prstGeom prst="rect">
            <a:avLst/>
          </a:prstGeom>
          <a:noFill/>
        </p:spPr>
        <p:txBody>
          <a:bodyPr wrap="square" lIns="0" rIns="0" tIns="0" bIns="0" anchor="ctr">
            <a:spAutoFit/>
          </a:bodyPr>
          <a:lstStyle/>
          <a:p>
            <a:pPr algn="ctr"/>
            <a:r>
              <a:rPr sz="850" b="0">
                <a:solidFill>
                  <a:srgbClr val="6B7280"/>
                </a:solidFill>
                <a:latin typeface="Segoe UI"/>
                <a:cs typeface="Segoe UI"/>
              </a:rPr>
              <a:t>Planned</a:t>
            </a:r>
          </a:p>
        </p:txBody>
      </p:sp>
      <p:sp>
        <p:nvSpPr>
          <p:cNvPr id="65" name="Rounded Rectangle 64"/>
          <p:cNvSpPr/>
          <p:nvPr/>
        </p:nvSpPr>
        <p:spPr>
          <a:xfrm>
            <a:off x="7295064" y="4334256"/>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514520" y="4572000"/>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697400" y="4507992"/>
            <a:ext cx="1465472" cy="237744"/>
          </a:xfrm>
          <a:prstGeom prst="rect">
            <a:avLst/>
          </a:prstGeom>
          <a:noFill/>
        </p:spPr>
        <p:txBody>
          <a:bodyPr wrap="square" lIns="0" rIns="0" tIns="0" bIns="0" anchor="t">
            <a:spAutoFit/>
          </a:bodyPr>
          <a:lstStyle/>
          <a:p>
            <a:pPr algn="l"/>
            <a:r>
              <a:rPr sz="850" b="1" spc="120">
                <a:solidFill>
                  <a:srgbClr val="6B7280"/>
                </a:solidFill>
                <a:latin typeface="Segoe UI"/>
                <a:cs typeface="Segoe UI"/>
              </a:rPr>
              <a:t>STAGE 8</a:t>
            </a:r>
          </a:p>
        </p:txBody>
      </p:sp>
      <p:sp>
        <p:nvSpPr>
          <p:cNvPr id="68" name="TextBox 67"/>
          <p:cNvSpPr txBox="1"/>
          <p:nvPr/>
        </p:nvSpPr>
        <p:spPr>
          <a:xfrm>
            <a:off x="7514520" y="4882896"/>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AI layer</a:t>
            </a:r>
          </a:p>
        </p:txBody>
      </p:sp>
      <p:sp>
        <p:nvSpPr>
          <p:cNvPr id="69" name="Rounded Rectangle 68"/>
          <p:cNvSpPr/>
          <p:nvPr/>
        </p:nvSpPr>
        <p:spPr>
          <a:xfrm>
            <a:off x="7514520" y="5394960"/>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14520" y="5394960"/>
            <a:ext cx="1648352" cy="256032"/>
          </a:xfrm>
          <a:prstGeom prst="rect">
            <a:avLst/>
          </a:prstGeom>
          <a:noFill/>
        </p:spPr>
        <p:txBody>
          <a:bodyPr wrap="square" lIns="0" rIns="0" tIns="0" bIns="0" anchor="ctr">
            <a:spAutoFit/>
          </a:bodyPr>
          <a:lstStyle/>
          <a:p>
            <a:pPr algn="ctr"/>
            <a:r>
              <a:rPr sz="850" b="0">
                <a:solidFill>
                  <a:srgbClr val="6B7280"/>
                </a:solidFill>
                <a:latin typeface="Segoe UI"/>
                <a:cs typeface="Segoe UI"/>
              </a:rPr>
              <a:t>Planned</a:t>
            </a:r>
          </a:p>
        </p:txBody>
      </p:sp>
      <p:sp>
        <p:nvSpPr>
          <p:cNvPr id="71" name="Rounded Rectangle 70"/>
          <p:cNvSpPr/>
          <p:nvPr/>
        </p:nvSpPr>
        <p:spPr>
          <a:xfrm>
            <a:off x="9537777" y="4334256"/>
            <a:ext cx="2087264" cy="1481328"/>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757233" y="4572000"/>
            <a:ext cx="100584" cy="100584"/>
          </a:xfrm>
          <a:prstGeom prst="ellipse">
            <a:avLst/>
          </a:prstGeom>
          <a:solidFill>
            <a:srgbClr val="6B728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940113" y="4507992"/>
            <a:ext cx="1465472" cy="237744"/>
          </a:xfrm>
          <a:prstGeom prst="rect">
            <a:avLst/>
          </a:prstGeom>
          <a:noFill/>
        </p:spPr>
        <p:txBody>
          <a:bodyPr wrap="square" lIns="0" rIns="0" tIns="0" bIns="0" anchor="t">
            <a:spAutoFit/>
          </a:bodyPr>
          <a:lstStyle/>
          <a:p>
            <a:pPr algn="l"/>
            <a:r>
              <a:rPr sz="850" b="1" spc="120">
                <a:solidFill>
                  <a:srgbClr val="6B7280"/>
                </a:solidFill>
                <a:latin typeface="Segoe UI"/>
                <a:cs typeface="Segoe UI"/>
              </a:rPr>
              <a:t>STAGE 9</a:t>
            </a:r>
          </a:p>
        </p:txBody>
      </p:sp>
      <p:sp>
        <p:nvSpPr>
          <p:cNvPr id="74" name="TextBox 73"/>
          <p:cNvSpPr txBox="1"/>
          <p:nvPr/>
        </p:nvSpPr>
        <p:spPr>
          <a:xfrm>
            <a:off x="9757233" y="4882896"/>
            <a:ext cx="1648352" cy="548640"/>
          </a:xfrm>
          <a:prstGeom prst="rect">
            <a:avLst/>
          </a:prstGeom>
          <a:noFill/>
        </p:spPr>
        <p:txBody>
          <a:bodyPr wrap="square" lIns="0" rIns="0" tIns="0" bIns="0" anchor="t">
            <a:spAutoFit/>
          </a:bodyPr>
          <a:lstStyle/>
          <a:p>
            <a:pPr algn="l"/>
            <a:r>
              <a:rPr sz="1200" b="1">
                <a:solidFill>
                  <a:srgbClr val="FFFFFF"/>
                </a:solidFill>
                <a:latin typeface="Segoe UI"/>
                <a:cs typeface="Segoe UI"/>
              </a:rPr>
              <a:t>Hardening &amp; ship</a:t>
            </a:r>
          </a:p>
        </p:txBody>
      </p:sp>
      <p:sp>
        <p:nvSpPr>
          <p:cNvPr id="75" name="Rounded Rectangle 74"/>
          <p:cNvSpPr/>
          <p:nvPr/>
        </p:nvSpPr>
        <p:spPr>
          <a:xfrm>
            <a:off x="9757233" y="5394960"/>
            <a:ext cx="1648352" cy="256032"/>
          </a:xfrm>
          <a:prstGeom prst="roundRect">
            <a:avLst>
              <a:gd name="adj" fmla="val 34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57233" y="5394960"/>
            <a:ext cx="1648352" cy="256032"/>
          </a:xfrm>
          <a:prstGeom prst="rect">
            <a:avLst/>
          </a:prstGeom>
          <a:noFill/>
        </p:spPr>
        <p:txBody>
          <a:bodyPr wrap="square" lIns="0" rIns="0" tIns="0" bIns="0" anchor="ctr">
            <a:spAutoFit/>
          </a:bodyPr>
          <a:lstStyle/>
          <a:p>
            <a:pPr algn="ctr"/>
            <a:r>
              <a:rPr sz="850" b="0">
                <a:solidFill>
                  <a:srgbClr val="6B7280"/>
                </a:solidFill>
                <a:latin typeface="Segoe UI"/>
                <a:cs typeface="Segoe UI"/>
              </a:rPr>
              <a:t>Planned</a:t>
            </a:r>
          </a:p>
        </p:txBody>
      </p:sp>
      <p:sp>
        <p:nvSpPr>
          <p:cNvPr id="77" name="TextBox 76"/>
          <p:cNvSpPr txBox="1"/>
          <p:nvPr/>
        </p:nvSpPr>
        <p:spPr>
          <a:xfrm>
            <a:off x="566928" y="5888736"/>
            <a:ext cx="11058113" cy="237744"/>
          </a:xfrm>
          <a:prstGeom prst="rect">
            <a:avLst/>
          </a:prstGeom>
          <a:noFill/>
        </p:spPr>
        <p:txBody>
          <a:bodyPr wrap="square" lIns="0" rIns="0" tIns="0" bIns="0" anchor="t">
            <a:spAutoFit/>
          </a:bodyPr>
          <a:lstStyle/>
          <a:p>
            <a:pPr algn="l"/>
            <a:r>
              <a:rPr sz="950" b="0">
                <a:solidFill>
                  <a:srgbClr val="9A9CAB"/>
                </a:solidFill>
                <a:latin typeface="Segoe UI"/>
                <a:cs typeface="Segoe UI"/>
              </a:rPr>
              <a:t>Milestone 1 (Stages 0–3) is complete and verified. Milestone 2 begins with the Goals vertical slice, which proves the full browser → API → database path on real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11 · FUTURE SCOPE</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What version 2 unlocks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16</a:t>
            </a:r>
            <a:r>
              <a:rPr sz="850" b="0">
                <a:solidFill>
                  <a:srgbClr val="6B6D7C"/>
                </a:solidFill>
                <a:latin typeface="Segoe UI"/>
                <a:cs typeface="Segoe UI"/>
              </a:rPr>
              <a:t>  /  18</a:t>
            </a:r>
          </a:p>
        </p:txBody>
      </p:sp>
      <p:sp>
        <p:nvSpPr>
          <p:cNvPr id="13" name="Rounded Rectangle 12"/>
          <p:cNvSpPr/>
          <p:nvPr/>
        </p:nvSpPr>
        <p:spPr>
          <a:xfrm>
            <a:off x="566928" y="2011680"/>
            <a:ext cx="2079949" cy="3017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8096" y="2212848"/>
            <a:ext cx="384048" cy="45720"/>
          </a:xfrm>
          <a:prstGeom prst="roundRect">
            <a:avLst>
              <a:gd name="adj" fmla="val 50000"/>
            </a:avLst>
          </a:prstGeom>
          <a:solidFill>
            <a:srgbClr val="9D3B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395728"/>
            <a:ext cx="1677613" cy="749808"/>
          </a:xfrm>
          <a:prstGeom prst="rect">
            <a:avLst/>
          </a:prstGeom>
          <a:noFill/>
        </p:spPr>
        <p:txBody>
          <a:bodyPr wrap="square" lIns="0" rIns="0" tIns="0" bIns="0" anchor="t">
            <a:spAutoFit/>
          </a:bodyPr>
          <a:lstStyle/>
          <a:p>
            <a:pPr algn="l"/>
            <a:r>
              <a:rPr sz="1200" b="1">
                <a:solidFill>
                  <a:srgbClr val="FFFFFF"/>
                </a:solidFill>
                <a:latin typeface="Segoe UI"/>
                <a:cs typeface="Segoe UI"/>
              </a:rPr>
              <a:t>AI recommendation engine</a:t>
            </a:r>
          </a:p>
        </p:txBody>
      </p:sp>
      <p:sp>
        <p:nvSpPr>
          <p:cNvPr id="16" name="TextBox 15"/>
          <p:cNvSpPr txBox="1"/>
          <p:nvPr/>
        </p:nvSpPr>
        <p:spPr>
          <a:xfrm>
            <a:off x="768096" y="3255264"/>
            <a:ext cx="1677613" cy="1645920"/>
          </a:xfrm>
          <a:prstGeom prst="rect">
            <a:avLst/>
          </a:prstGeom>
          <a:noFill/>
        </p:spPr>
        <p:txBody>
          <a:bodyPr wrap="square" lIns="0" rIns="0" tIns="0" bIns="0" anchor="t">
            <a:spAutoFit/>
          </a:bodyPr>
          <a:lstStyle/>
          <a:p>
            <a:pPr algn="l"/>
            <a:r>
              <a:rPr sz="950" b="0">
                <a:solidFill>
                  <a:srgbClr val="9A9CAB"/>
                </a:solidFill>
                <a:latin typeface="Segoe UI"/>
                <a:cs typeface="Segoe UI"/>
              </a:rPr>
              <a:t>Next question to solve, weak-topic drills, a weekly practice plan and a revision schedule.</a:t>
            </a:r>
          </a:p>
        </p:txBody>
      </p:sp>
      <p:sp>
        <p:nvSpPr>
          <p:cNvPr id="17" name="Rounded Rectangle 16"/>
          <p:cNvSpPr/>
          <p:nvPr/>
        </p:nvSpPr>
        <p:spPr>
          <a:xfrm>
            <a:off x="2811469" y="2011680"/>
            <a:ext cx="2079949" cy="3017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12637" y="2212848"/>
            <a:ext cx="384048" cy="45720"/>
          </a:xfrm>
          <a:prstGeom prst="roundRect">
            <a:avLst>
              <a:gd name="adj" fmla="val 50000"/>
            </a:avLst>
          </a:prstGeom>
          <a:solidFill>
            <a:srgbClr val="2F7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2637" y="2395728"/>
            <a:ext cx="1677613" cy="749808"/>
          </a:xfrm>
          <a:prstGeom prst="rect">
            <a:avLst/>
          </a:prstGeom>
          <a:noFill/>
        </p:spPr>
        <p:txBody>
          <a:bodyPr wrap="square" lIns="0" rIns="0" tIns="0" bIns="0" anchor="t">
            <a:spAutoFit/>
          </a:bodyPr>
          <a:lstStyle/>
          <a:p>
            <a:pPr algn="l"/>
            <a:r>
              <a:rPr sz="1200" b="1">
                <a:solidFill>
                  <a:srgbClr val="FFFFFF"/>
                </a:solidFill>
                <a:latin typeface="Segoe UI"/>
                <a:cs typeface="Segoe UI"/>
              </a:rPr>
              <a:t>Live platform sync</a:t>
            </a:r>
          </a:p>
        </p:txBody>
      </p:sp>
      <p:sp>
        <p:nvSpPr>
          <p:cNvPr id="20" name="TextBox 19"/>
          <p:cNvSpPr txBox="1"/>
          <p:nvPr/>
        </p:nvSpPr>
        <p:spPr>
          <a:xfrm>
            <a:off x="3012637" y="3255264"/>
            <a:ext cx="1677613" cy="1645920"/>
          </a:xfrm>
          <a:prstGeom prst="rect">
            <a:avLst/>
          </a:prstGeom>
          <a:noFill/>
        </p:spPr>
        <p:txBody>
          <a:bodyPr wrap="square" lIns="0" rIns="0" tIns="0" bIns="0" anchor="t">
            <a:spAutoFit/>
          </a:bodyPr>
          <a:lstStyle/>
          <a:p>
            <a:pPr algn="l"/>
            <a:r>
              <a:rPr sz="950" b="0">
                <a:solidFill>
                  <a:srgbClr val="9A9CAB"/>
                </a:solidFill>
                <a:latin typeface="Segoe UI"/>
                <a:cs typeface="Segoe UI"/>
              </a:rPr>
              <a:t>Codeforces, GitHub and LeetCode pulled on a schedule into time-series snapshots, with a 'synced X ago' badge.</a:t>
            </a:r>
          </a:p>
        </p:txBody>
      </p:sp>
      <p:sp>
        <p:nvSpPr>
          <p:cNvPr id="21" name="Rounded Rectangle 20"/>
          <p:cNvSpPr/>
          <p:nvPr/>
        </p:nvSpPr>
        <p:spPr>
          <a:xfrm>
            <a:off x="5056010" y="2011680"/>
            <a:ext cx="2079949" cy="3017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57178" y="2212848"/>
            <a:ext cx="384048" cy="45720"/>
          </a:xfrm>
          <a:prstGeom prst="roundRect">
            <a:avLst>
              <a:gd name="adj" fmla="val 50000"/>
            </a:avLst>
          </a:prstGeom>
          <a:solidFill>
            <a:srgbClr val="7FD4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178" y="2395728"/>
            <a:ext cx="1677613" cy="749808"/>
          </a:xfrm>
          <a:prstGeom prst="rect">
            <a:avLst/>
          </a:prstGeom>
          <a:noFill/>
        </p:spPr>
        <p:txBody>
          <a:bodyPr wrap="square" lIns="0" rIns="0" tIns="0" bIns="0" anchor="t">
            <a:spAutoFit/>
          </a:bodyPr>
          <a:lstStyle/>
          <a:p>
            <a:pPr algn="l"/>
            <a:r>
              <a:rPr sz="1200" b="1">
                <a:solidFill>
                  <a:srgbClr val="FFFFFF"/>
                </a:solidFill>
                <a:latin typeface="Segoe UI"/>
                <a:cs typeface="Segoe UI"/>
              </a:rPr>
              <a:t>AI portfolio review</a:t>
            </a:r>
          </a:p>
        </p:txBody>
      </p:sp>
      <p:sp>
        <p:nvSpPr>
          <p:cNvPr id="24" name="TextBox 23"/>
          <p:cNvSpPr txBox="1"/>
          <p:nvPr/>
        </p:nvSpPr>
        <p:spPr>
          <a:xfrm>
            <a:off x="5257178" y="3255264"/>
            <a:ext cx="1677613" cy="1645920"/>
          </a:xfrm>
          <a:prstGeom prst="rect">
            <a:avLst/>
          </a:prstGeom>
          <a:noFill/>
        </p:spPr>
        <p:txBody>
          <a:bodyPr wrap="square" lIns="0" rIns="0" tIns="0" bIns="0" anchor="t">
            <a:spAutoFit/>
          </a:bodyPr>
          <a:lstStyle/>
          <a:p>
            <a:pPr algn="l"/>
            <a:r>
              <a:rPr sz="950" b="0">
                <a:solidFill>
                  <a:srgbClr val="9A9CAB"/>
                </a:solidFill>
                <a:latin typeface="Segoe UI"/>
                <a:cs typeface="Segoe UI"/>
              </a:rPr>
              <a:t>Resume bullets, README suggestions and project improvements generated from real repository data.</a:t>
            </a:r>
          </a:p>
        </p:txBody>
      </p:sp>
      <p:sp>
        <p:nvSpPr>
          <p:cNvPr id="25" name="Rounded Rectangle 24"/>
          <p:cNvSpPr/>
          <p:nvPr/>
        </p:nvSpPr>
        <p:spPr>
          <a:xfrm>
            <a:off x="7300551" y="2011680"/>
            <a:ext cx="2079949" cy="3017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501719" y="2212848"/>
            <a:ext cx="384048" cy="45720"/>
          </a:xfrm>
          <a:prstGeom prst="roundRect">
            <a:avLst>
              <a:gd name="adj" fmla="val 50000"/>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1719" y="2395728"/>
            <a:ext cx="1677613" cy="749808"/>
          </a:xfrm>
          <a:prstGeom prst="rect">
            <a:avLst/>
          </a:prstGeom>
          <a:noFill/>
        </p:spPr>
        <p:txBody>
          <a:bodyPr wrap="square" lIns="0" rIns="0" tIns="0" bIns="0" anchor="t">
            <a:spAutoFit/>
          </a:bodyPr>
          <a:lstStyle/>
          <a:p>
            <a:pPr algn="l"/>
            <a:r>
              <a:rPr sz="1200" b="1">
                <a:solidFill>
                  <a:srgbClr val="FFFFFF"/>
                </a:solidFill>
                <a:latin typeface="Segoe UI"/>
                <a:cs typeface="Segoe UI"/>
              </a:rPr>
              <a:t>Career readiness score</a:t>
            </a:r>
          </a:p>
        </p:txBody>
      </p:sp>
      <p:sp>
        <p:nvSpPr>
          <p:cNvPr id="28" name="TextBox 27"/>
          <p:cNvSpPr txBox="1"/>
          <p:nvPr/>
        </p:nvSpPr>
        <p:spPr>
          <a:xfrm>
            <a:off x="7501719" y="3255264"/>
            <a:ext cx="1677613" cy="1645920"/>
          </a:xfrm>
          <a:prstGeom prst="rect">
            <a:avLst/>
          </a:prstGeom>
          <a:noFill/>
        </p:spPr>
        <p:txBody>
          <a:bodyPr wrap="square" lIns="0" rIns="0" tIns="0" bIns="0" anchor="t">
            <a:spAutoFit/>
          </a:bodyPr>
          <a:lstStyle/>
          <a:p>
            <a:pPr algn="l"/>
            <a:r>
              <a:rPr sz="950" b="0">
                <a:solidFill>
                  <a:srgbClr val="9A9CAB"/>
                </a:solidFill>
                <a:latin typeface="Segoe UI"/>
                <a:cs typeface="Segoe UI"/>
              </a:rPr>
              <a:t>A single score built from solved problems, contest rating, portfolio quality and interview coverage.</a:t>
            </a:r>
          </a:p>
        </p:txBody>
      </p:sp>
      <p:sp>
        <p:nvSpPr>
          <p:cNvPr id="29" name="Rounded Rectangle 28"/>
          <p:cNvSpPr/>
          <p:nvPr/>
        </p:nvSpPr>
        <p:spPr>
          <a:xfrm>
            <a:off x="9545092" y="2011680"/>
            <a:ext cx="2079949" cy="301752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746260" y="2212848"/>
            <a:ext cx="384048" cy="45720"/>
          </a:xfrm>
          <a:prstGeom prst="roundRect">
            <a:avLst>
              <a:gd name="adj" fmla="val 50000"/>
            </a:avLst>
          </a:prstGeom>
          <a:solidFill>
            <a:srgbClr val="FBBF24">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46260" y="2395728"/>
            <a:ext cx="1677613" cy="749808"/>
          </a:xfrm>
          <a:prstGeom prst="rect">
            <a:avLst/>
          </a:prstGeom>
          <a:noFill/>
        </p:spPr>
        <p:txBody>
          <a:bodyPr wrap="square" lIns="0" rIns="0" tIns="0" bIns="0" anchor="t">
            <a:spAutoFit/>
          </a:bodyPr>
          <a:lstStyle/>
          <a:p>
            <a:pPr algn="l"/>
            <a:r>
              <a:rPr sz="1200" b="1">
                <a:solidFill>
                  <a:srgbClr val="FFFFFF"/>
                </a:solidFill>
                <a:latin typeface="Segoe UI"/>
                <a:cs typeface="Segoe UI"/>
              </a:rPr>
              <a:t>Harden &amp; scale</a:t>
            </a:r>
          </a:p>
        </p:txBody>
      </p:sp>
      <p:sp>
        <p:nvSpPr>
          <p:cNvPr id="32" name="TextBox 31"/>
          <p:cNvSpPr txBox="1"/>
          <p:nvPr/>
        </p:nvSpPr>
        <p:spPr>
          <a:xfrm>
            <a:off x="9746260" y="3255264"/>
            <a:ext cx="1677613" cy="1645920"/>
          </a:xfrm>
          <a:prstGeom prst="rect">
            <a:avLst/>
          </a:prstGeom>
          <a:noFill/>
        </p:spPr>
        <p:txBody>
          <a:bodyPr wrap="square" lIns="0" rIns="0" tIns="0" bIns="0" anchor="t">
            <a:spAutoFit/>
          </a:bodyPr>
          <a:lstStyle/>
          <a:p>
            <a:pPr algn="l"/>
            <a:r>
              <a:rPr sz="950" b="0">
                <a:solidFill>
                  <a:srgbClr val="9A9CAB"/>
                </a:solidFill>
                <a:latin typeface="Segoe UI"/>
                <a:cs typeface="Segoe UI"/>
              </a:rPr>
              <a:t>Rate limits, lazy-loaded routes to cut the bundle, monitoring, PITR backups and a separate production environment.</a:t>
            </a:r>
          </a:p>
        </p:txBody>
      </p:sp>
      <p:sp>
        <p:nvSpPr>
          <p:cNvPr id="33" name="TextBox 32"/>
          <p:cNvSpPr txBox="1"/>
          <p:nvPr/>
        </p:nvSpPr>
        <p:spPr>
          <a:xfrm>
            <a:off x="566928" y="5175504"/>
            <a:ext cx="11058113" cy="457200"/>
          </a:xfrm>
          <a:prstGeom prst="rect">
            <a:avLst/>
          </a:prstGeom>
          <a:noFill/>
        </p:spPr>
        <p:txBody>
          <a:bodyPr wrap="square" lIns="0" rIns="0" tIns="0" bIns="0" anchor="t">
            <a:spAutoFit/>
          </a:bodyPr>
          <a:lstStyle/>
          <a:p>
            <a:pPr algn="l"/>
            <a:r>
              <a:rPr sz="1100" b="1">
                <a:solidFill>
                  <a:srgbClr val="E8E9F0"/>
                </a:solidFill>
                <a:latin typeface="Segoe UI"/>
                <a:cs typeface="Segoe UI"/>
              </a:rPr>
              <a:t>The AI layer is deliberately last, and deliberately optional. </a:t>
            </a:r>
            <a:r>
              <a:rPr sz="1100" b="0">
                <a:solidFill>
                  <a:srgbClr val="9A9CAB"/>
                </a:solidFill>
                <a:latin typeface="Segoe UI"/>
                <a:cs typeface="Segoe UI"/>
              </a:rPr>
              <a:t>Stage 7 is a rule-based engine that produces the same recommendations deterministically — so recommendations work, and keep working, with no model in the loop. AI then explains and personalises them; it never invents the numbers.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2011680"/>
            <a:ext cx="5486400" cy="5486400"/>
          </a:xfrm>
          <a:prstGeom prst="roundRect">
            <a:avLst>
              <a:gd name="adj" fmla="val 50000"/>
            </a:avLst>
          </a:prstGeom>
          <a:solidFill>
            <a:srgbClr val="2F7D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46720" y="3474720"/>
            <a:ext cx="5486400" cy="5486400"/>
          </a:xfrm>
          <a:prstGeom prst="roundRect">
            <a:avLst>
              <a:gd name="adj" fmla="val 50000"/>
            </a:avLst>
          </a:prstGeom>
          <a:solidFill>
            <a:srgbClr val="9D3BFF">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566928" y="310896"/>
            <a:ext cx="274320" cy="274320"/>
          </a:xfrm>
          <a:prstGeom prst="rect">
            <a:avLst/>
          </a:prstGeom>
        </p:spPr>
      </p:pic>
      <p:sp>
        <p:nvSpPr>
          <p:cNvPr id="6" name="TextBox 5"/>
          <p:cNvSpPr txBox="1"/>
          <p:nvPr/>
        </p:nvSpPr>
        <p:spPr>
          <a:xfrm>
            <a:off x="932688" y="310896"/>
            <a:ext cx="2743200" cy="274320"/>
          </a:xfrm>
          <a:prstGeom prst="rect">
            <a:avLst/>
          </a:prstGeom>
          <a:noFill/>
        </p:spPr>
        <p:txBody>
          <a:bodyPr wrap="square" lIns="0" rIns="0" tIns="0" bIns="0" anchor="ctr">
            <a:spAutoFit/>
          </a:bodyPr>
          <a:lstStyle/>
          <a:p>
            <a:pPr algn="l"/>
            <a:r>
              <a:rPr sz="1200" b="1">
                <a:solidFill>
                  <a:srgbClr val="FFFFFF"/>
                </a:solidFill>
                <a:latin typeface="Segoe UI"/>
                <a:cs typeface="Segoe UI"/>
              </a:rPr>
              <a:t>Career</a:t>
            </a:r>
            <a:r>
              <a:rPr sz="1200" b="1">
                <a:solidFill>
                  <a:srgbClr val="4F8CFF"/>
                </a:solidFill>
                <a:latin typeface="Segoe UI"/>
                <a:cs typeface="Segoe UI"/>
              </a:rPr>
              <a:t>Pilot</a:t>
            </a:r>
          </a:p>
        </p:txBody>
      </p:sp>
      <p:sp>
        <p:nvSpPr>
          <p:cNvPr id="7" name="TextBox 6"/>
          <p:cNvSpPr txBox="1"/>
          <p:nvPr/>
        </p:nvSpPr>
        <p:spPr>
          <a:xfrm>
            <a:off x="566928" y="877824"/>
            <a:ext cx="11058113" cy="201168"/>
          </a:xfrm>
          <a:prstGeom prst="rect">
            <a:avLst/>
          </a:prstGeom>
          <a:noFill/>
        </p:spPr>
        <p:txBody>
          <a:bodyPr wrap="square" lIns="0" rIns="0" tIns="0" bIns="0" anchor="t">
            <a:spAutoFit/>
          </a:bodyPr>
          <a:lstStyle/>
          <a:p>
            <a:pPr algn="l"/>
            <a:r>
              <a:rPr sz="950" b="1" spc="160">
                <a:solidFill>
                  <a:srgbClr val="4F8CFF"/>
                </a:solidFill>
                <a:latin typeface="Segoe UI"/>
                <a:cs typeface="Segoe UI"/>
              </a:rPr>
              <a:t>12 · CONCLUSION</a:t>
            </a:r>
          </a:p>
        </p:txBody>
      </p:sp>
      <p:sp>
        <p:nvSpPr>
          <p:cNvPr id="8" name="TextBox 7"/>
          <p:cNvSpPr txBox="1"/>
          <p:nvPr/>
        </p:nvSpPr>
        <p:spPr>
          <a:xfrm>
            <a:off x="566928" y="1060704"/>
            <a:ext cx="11058113" cy="603504"/>
          </a:xfrm>
          <a:prstGeom prst="rect">
            <a:avLst/>
          </a:prstGeom>
          <a:noFill/>
        </p:spPr>
        <p:txBody>
          <a:bodyPr wrap="square" lIns="0" rIns="0" tIns="0" bIns="0" anchor="t">
            <a:spAutoFit/>
          </a:bodyPr>
          <a:lstStyle/>
          <a:p>
            <a:pPr algn="l"/>
            <a:r>
              <a:rPr sz="2600" b="1">
                <a:solidFill>
                  <a:srgbClr val="FFFFFF"/>
                </a:solidFill>
                <a:latin typeface="Segoe UI"/>
                <a:cs typeface="Segoe UI"/>
              </a:rPr>
              <a:t>What this milestone establishes</a:t>
            </a:r>
          </a:p>
        </p:txBody>
      </p:sp>
      <p:sp>
        <p:nvSpPr>
          <p:cNvPr id="9" name="Rounded Rectangle 8"/>
          <p:cNvSpPr/>
          <p:nvPr/>
        </p:nvSpPr>
        <p:spPr>
          <a:xfrm>
            <a:off x="566928" y="1719072"/>
            <a:ext cx="137160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6327648"/>
            <a:ext cx="11058113" cy="10972"/>
          </a:xfrm>
          <a:prstGeom prst="rect">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428232"/>
            <a:ext cx="7315200" cy="201168"/>
          </a:xfrm>
          <a:prstGeom prst="rect">
            <a:avLst/>
          </a:prstGeom>
          <a:noFill/>
        </p:spPr>
        <p:txBody>
          <a:bodyPr wrap="square" lIns="0" rIns="0" tIns="0" bIns="0" anchor="t">
            <a:spAutoFit/>
          </a:bodyPr>
          <a:lstStyle/>
          <a:p>
            <a:pPr algn="l"/>
            <a:r>
              <a:rPr sz="850" b="0">
                <a:solidFill>
                  <a:srgbClr val="6B6D7C"/>
                </a:solidFill>
                <a:latin typeface="Segoe UI"/>
                <a:cs typeface="Segoe UI"/>
              </a:rPr>
              <a:t>CareerPilot  ·  Mid-Evaluation Progress Review</a:t>
            </a:r>
          </a:p>
        </p:txBody>
      </p:sp>
      <p:sp>
        <p:nvSpPr>
          <p:cNvPr id="12" name="TextBox 11"/>
          <p:cNvSpPr txBox="1"/>
          <p:nvPr/>
        </p:nvSpPr>
        <p:spPr>
          <a:xfrm>
            <a:off x="9339041" y="6428232"/>
            <a:ext cx="2286000" cy="201168"/>
          </a:xfrm>
          <a:prstGeom prst="rect">
            <a:avLst/>
          </a:prstGeom>
          <a:noFill/>
        </p:spPr>
        <p:txBody>
          <a:bodyPr wrap="square" lIns="0" rIns="0" tIns="0" bIns="0" anchor="t">
            <a:spAutoFit/>
          </a:bodyPr>
          <a:lstStyle/>
          <a:p>
            <a:pPr algn="r"/>
            <a:r>
              <a:rPr sz="850" b="1">
                <a:solidFill>
                  <a:srgbClr val="9A9CAB"/>
                </a:solidFill>
                <a:latin typeface="Segoe UI"/>
                <a:cs typeface="Segoe UI"/>
              </a:rPr>
              <a:t>17</a:t>
            </a:r>
            <a:r>
              <a:rPr sz="850" b="0">
                <a:solidFill>
                  <a:srgbClr val="6B6D7C"/>
                </a:solidFill>
                <a:latin typeface="Segoe UI"/>
                <a:cs typeface="Segoe UI"/>
              </a:rPr>
              <a:t>  /  18</a:t>
            </a:r>
          </a:p>
        </p:txBody>
      </p:sp>
      <p:sp>
        <p:nvSpPr>
          <p:cNvPr id="13" name="Rounded Rectangle 12"/>
          <p:cNvSpPr/>
          <p:nvPr/>
        </p:nvSpPr>
        <p:spPr>
          <a:xfrm>
            <a:off x="566928" y="2011680"/>
            <a:ext cx="3527541" cy="22860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2231136"/>
            <a:ext cx="402336" cy="45720"/>
          </a:xfrm>
          <a:prstGeom prst="roundRect">
            <a:avLst>
              <a:gd name="adj" fmla="val 50000"/>
            </a:avLst>
          </a:prstGeom>
          <a:solidFill>
            <a:srgbClr val="34D399">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32304"/>
            <a:ext cx="3015477" cy="512064"/>
          </a:xfrm>
          <a:prstGeom prst="rect">
            <a:avLst/>
          </a:prstGeom>
          <a:noFill/>
        </p:spPr>
        <p:txBody>
          <a:bodyPr wrap="square" lIns="0" rIns="0" tIns="0" bIns="0" anchor="t">
            <a:spAutoFit/>
          </a:bodyPr>
          <a:lstStyle/>
          <a:p>
            <a:pPr algn="l"/>
            <a:r>
              <a:rPr sz="1400" b="1">
                <a:solidFill>
                  <a:srgbClr val="FFFFFF"/>
                </a:solidFill>
                <a:latin typeface="Segoe UI"/>
                <a:cs typeface="Segoe UI"/>
              </a:rPr>
              <a:t>The foundation is real</a:t>
            </a:r>
          </a:p>
        </p:txBody>
      </p:sp>
      <p:sp>
        <p:nvSpPr>
          <p:cNvPr id="16" name="TextBox 15"/>
          <p:cNvSpPr txBox="1"/>
          <p:nvPr/>
        </p:nvSpPr>
        <p:spPr>
          <a:xfrm>
            <a:off x="822960" y="3054096"/>
            <a:ext cx="3015477" cy="1097280"/>
          </a:xfrm>
          <a:prstGeom prst="rect">
            <a:avLst/>
          </a:prstGeom>
          <a:noFill/>
        </p:spPr>
        <p:txBody>
          <a:bodyPr wrap="square" lIns="0" rIns="0" tIns="0" bIns="0" anchor="t">
            <a:spAutoFit/>
          </a:bodyPr>
          <a:lstStyle/>
          <a:p>
            <a:pPr algn="l"/>
            <a:r>
              <a:rPr sz="1050" b="0">
                <a:solidFill>
                  <a:srgbClr val="9A9CAB"/>
                </a:solidFill>
                <a:latin typeface="Segoe UI"/>
                <a:cs typeface="Segoe UI"/>
              </a:rPr>
              <a:t>A 23-table schema on managed Postgres, a secured REST API and a complete authentication lifecycle — all running, not sketched.</a:t>
            </a:r>
          </a:p>
        </p:txBody>
      </p:sp>
      <p:sp>
        <p:nvSpPr>
          <p:cNvPr id="17" name="Rounded Rectangle 16"/>
          <p:cNvSpPr/>
          <p:nvPr/>
        </p:nvSpPr>
        <p:spPr>
          <a:xfrm>
            <a:off x="4332213" y="2011680"/>
            <a:ext cx="3527541" cy="22860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88245" y="2231136"/>
            <a:ext cx="402336" cy="45720"/>
          </a:xfrm>
          <a:prstGeom prst="roundRect">
            <a:avLst>
              <a:gd name="adj" fmla="val 50000"/>
            </a:avLst>
          </a:prstGeom>
          <a:solidFill>
            <a:srgbClr val="2F7D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245" y="2432304"/>
            <a:ext cx="3015477" cy="512064"/>
          </a:xfrm>
          <a:prstGeom prst="rect">
            <a:avLst/>
          </a:prstGeom>
          <a:noFill/>
        </p:spPr>
        <p:txBody>
          <a:bodyPr wrap="square" lIns="0" rIns="0" tIns="0" bIns="0" anchor="t">
            <a:spAutoFit/>
          </a:bodyPr>
          <a:lstStyle/>
          <a:p>
            <a:pPr algn="l"/>
            <a:r>
              <a:rPr sz="1400" b="1">
                <a:solidFill>
                  <a:srgbClr val="FFFFFF"/>
                </a:solidFill>
                <a:latin typeface="Segoe UI"/>
                <a:cs typeface="Segoe UI"/>
              </a:rPr>
              <a:t>The contract is frozen</a:t>
            </a:r>
          </a:p>
        </p:txBody>
      </p:sp>
      <p:sp>
        <p:nvSpPr>
          <p:cNvPr id="20" name="TextBox 19"/>
          <p:cNvSpPr txBox="1"/>
          <p:nvPr/>
        </p:nvSpPr>
        <p:spPr>
          <a:xfrm>
            <a:off x="4588245" y="3054096"/>
            <a:ext cx="3015477" cy="1097280"/>
          </a:xfrm>
          <a:prstGeom prst="rect">
            <a:avLst/>
          </a:prstGeom>
          <a:noFill/>
        </p:spPr>
        <p:txBody>
          <a:bodyPr wrap="square" lIns="0" rIns="0" tIns="0" bIns="0" anchor="t">
            <a:spAutoFit/>
          </a:bodyPr>
          <a:lstStyle/>
          <a:p>
            <a:pPr algn="l"/>
            <a:r>
              <a:rPr sz="1050" b="0">
                <a:solidFill>
                  <a:srgbClr val="9A9CAB"/>
                </a:solidFill>
                <a:latin typeface="Segoe UI"/>
                <a:cs typeface="Segoe UI"/>
              </a:rPr>
              <a:t>Every endpoint, request body and error code for all eleven feature areas is written down, so features are built against an agreed interface.</a:t>
            </a:r>
          </a:p>
        </p:txBody>
      </p:sp>
      <p:sp>
        <p:nvSpPr>
          <p:cNvPr id="21" name="Rounded Rectangle 20"/>
          <p:cNvSpPr/>
          <p:nvPr/>
        </p:nvSpPr>
        <p:spPr>
          <a:xfrm>
            <a:off x="8097499" y="2011680"/>
            <a:ext cx="3527541" cy="2286000"/>
          </a:xfrm>
          <a:prstGeom prst="roundRect">
            <a:avLst>
              <a:gd name="adj" fmla="val 9000"/>
            </a:avLst>
          </a:prstGeom>
          <a:solidFill>
            <a:srgbClr val="0D0D16">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53531" y="2231136"/>
            <a:ext cx="402336" cy="45720"/>
          </a:xfrm>
          <a:prstGeom prst="roundRect">
            <a:avLst>
              <a:gd name="adj" fmla="val 50000"/>
            </a:avLst>
          </a:prstGeom>
          <a:solidFill>
            <a:srgbClr val="9D3BFF">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3531" y="2432304"/>
            <a:ext cx="3015477" cy="512064"/>
          </a:xfrm>
          <a:prstGeom prst="rect">
            <a:avLst/>
          </a:prstGeom>
          <a:noFill/>
        </p:spPr>
        <p:txBody>
          <a:bodyPr wrap="square" lIns="0" rIns="0" tIns="0" bIns="0" anchor="t">
            <a:spAutoFit/>
          </a:bodyPr>
          <a:lstStyle/>
          <a:p>
            <a:pPr algn="l"/>
            <a:r>
              <a:rPr sz="1400" b="1">
                <a:solidFill>
                  <a:srgbClr val="FFFFFF"/>
                </a:solidFill>
                <a:latin typeface="Segoe UI"/>
                <a:cs typeface="Segoe UI"/>
              </a:rPr>
              <a:t>The UI is ahead by design</a:t>
            </a:r>
          </a:p>
        </p:txBody>
      </p:sp>
      <p:sp>
        <p:nvSpPr>
          <p:cNvPr id="24" name="TextBox 23"/>
          <p:cNvSpPr txBox="1"/>
          <p:nvPr/>
        </p:nvSpPr>
        <p:spPr>
          <a:xfrm>
            <a:off x="8353531" y="3054096"/>
            <a:ext cx="3015477" cy="1097280"/>
          </a:xfrm>
          <a:prstGeom prst="rect">
            <a:avLst/>
          </a:prstGeom>
          <a:noFill/>
        </p:spPr>
        <p:txBody>
          <a:bodyPr wrap="square" lIns="0" rIns="0" tIns="0" bIns="0" anchor="t">
            <a:spAutoFit/>
          </a:bodyPr>
          <a:lstStyle/>
          <a:p>
            <a:pPr algn="l"/>
            <a:r>
              <a:rPr sz="1050" b="0">
                <a:solidFill>
                  <a:srgbClr val="9A9CAB"/>
                </a:solidFill>
                <a:latin typeface="Segoe UI"/>
                <a:cs typeface="Segoe UI"/>
              </a:rPr>
              <a:t>Eleven screens are already built against that contract, which is why swapping mock data for live data is a data-layer change, not a rewrite.</a:t>
            </a:r>
          </a:p>
        </p:txBody>
      </p:sp>
      <p:sp>
        <p:nvSpPr>
          <p:cNvPr id="25" name="Rounded Rectangle 24"/>
          <p:cNvSpPr/>
          <p:nvPr/>
        </p:nvSpPr>
        <p:spPr>
          <a:xfrm>
            <a:off x="566928" y="4535424"/>
            <a:ext cx="11058113" cy="1298448"/>
          </a:xfrm>
          <a:prstGeom prst="roundRect">
            <a:avLst>
              <a:gd name="adj" fmla="val 9000"/>
            </a:avLst>
          </a:prstGeom>
          <a:solidFill>
            <a:srgbClr val="14141F">
              <a:alpha val="100000"/>
            </a:srgbClr>
          </a:solidFill>
          <a:ln w="9525">
            <a:solidFill>
              <a:srgbClr val="FFFFFF">
                <a:alpha val="1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7" y="2834639"/>
            <a:ext cx="4023360" cy="4023360"/>
          </a:xfrm>
          <a:prstGeom prst="roundRect">
            <a:avLst>
              <a:gd name="adj" fmla="val 50000"/>
            </a:avLst>
          </a:prstGeom>
          <a:solidFill>
            <a:srgbClr val="2F7D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4718304"/>
            <a:ext cx="10052273" cy="548640"/>
          </a:xfrm>
          <a:prstGeom prst="rect">
            <a:avLst/>
          </a:prstGeom>
          <a:noFill/>
        </p:spPr>
        <p:txBody>
          <a:bodyPr wrap="square" lIns="0" rIns="0" tIns="0" bIns="0" anchor="t">
            <a:spAutoFit/>
          </a:bodyPr>
          <a:lstStyle/>
          <a:p>
            <a:pPr algn="l"/>
            <a:r>
              <a:rPr sz="1500" b="1">
                <a:solidFill>
                  <a:srgbClr val="E8E9F0"/>
                </a:solidFill>
                <a:latin typeface="Segoe UI"/>
                <a:cs typeface="Segoe UI"/>
              </a:rPr>
              <a:t>CareerPilot is not another opportunity board or manual DSA tracker — it is the workspace that reads what a student has already done and turns it into a plan.</a:t>
            </a:r>
          </a:p>
        </p:txBody>
      </p:sp>
      <p:sp>
        <p:nvSpPr>
          <p:cNvPr id="28" name="TextBox 27"/>
          <p:cNvSpPr txBox="1"/>
          <p:nvPr/>
        </p:nvSpPr>
        <p:spPr>
          <a:xfrm>
            <a:off x="1069848" y="5358384"/>
            <a:ext cx="10052273" cy="274320"/>
          </a:xfrm>
          <a:prstGeom prst="rect">
            <a:avLst/>
          </a:prstGeom>
          <a:noFill/>
        </p:spPr>
        <p:txBody>
          <a:bodyPr wrap="square" lIns="0" rIns="0" tIns="0" bIns="0" anchor="t">
            <a:spAutoFit/>
          </a:bodyPr>
          <a:lstStyle/>
          <a:p>
            <a:pPr algn="l"/>
            <a:r>
              <a:rPr sz="1100" b="0">
                <a:solidFill>
                  <a:srgbClr val="9A9CAB"/>
                </a:solidFill>
                <a:latin typeface="Segoe UI"/>
                <a:cs typeface="Segoe UI"/>
              </a:rPr>
              <a:t>Next: finish the feature slices on this foundation, then switch on the recommendation engine.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5050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39" y="-548639"/>
            <a:ext cx="8412480" cy="8412480"/>
          </a:xfrm>
          <a:prstGeom prst="roundRect">
            <a:avLst>
              <a:gd name="adj" fmla="val 50000"/>
            </a:avLst>
          </a:prstGeom>
          <a:solidFill>
            <a:srgbClr val="2F7D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852160" y="1280160"/>
            <a:ext cx="7315200" cy="7315200"/>
          </a:xfrm>
          <a:prstGeom prst="roundRect">
            <a:avLst>
              <a:gd name="adj" fmla="val 50000"/>
            </a:avLst>
          </a:prstGeom>
          <a:solidFill>
            <a:srgbClr val="9D3B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reerpilot-mark.png"/>
          <p:cNvPicPr>
            <a:picLocks noChangeAspect="1"/>
          </p:cNvPicPr>
          <p:nvPr/>
        </p:nvPicPr>
        <p:blipFill>
          <a:blip r:embed="rId2"/>
          <a:stretch>
            <a:fillRect/>
          </a:stretch>
        </p:blipFill>
        <p:spPr>
          <a:xfrm>
            <a:off x="960120" y="1874519"/>
            <a:ext cx="1920240" cy="1920240"/>
          </a:xfrm>
          <a:prstGeom prst="rect">
            <a:avLst/>
          </a:prstGeom>
        </p:spPr>
      </p:pic>
      <p:sp>
        <p:nvSpPr>
          <p:cNvPr id="6" name="TextBox 5"/>
          <p:cNvSpPr txBox="1"/>
          <p:nvPr/>
        </p:nvSpPr>
        <p:spPr>
          <a:xfrm>
            <a:off x="3017520" y="2103120"/>
            <a:ext cx="8229600" cy="822960"/>
          </a:xfrm>
          <a:prstGeom prst="rect">
            <a:avLst/>
          </a:prstGeom>
          <a:noFill/>
        </p:spPr>
        <p:txBody>
          <a:bodyPr wrap="square" lIns="0" rIns="0" tIns="0" bIns="0" anchor="t">
            <a:spAutoFit/>
          </a:bodyPr>
          <a:lstStyle/>
          <a:p>
            <a:pPr algn="l"/>
            <a:r>
              <a:rPr sz="4600" b="1">
                <a:solidFill>
                  <a:srgbClr val="FFFFFF"/>
                </a:solidFill>
                <a:latin typeface="Segoe UI"/>
                <a:cs typeface="Segoe UI"/>
              </a:rPr>
              <a:t>Thank you</a:t>
            </a:r>
          </a:p>
        </p:txBody>
      </p:sp>
      <p:sp>
        <p:nvSpPr>
          <p:cNvPr id="7" name="TextBox 6"/>
          <p:cNvSpPr txBox="1"/>
          <p:nvPr/>
        </p:nvSpPr>
        <p:spPr>
          <a:xfrm>
            <a:off x="3017520" y="2962656"/>
            <a:ext cx="8229600" cy="310896"/>
          </a:xfrm>
          <a:prstGeom prst="rect">
            <a:avLst/>
          </a:prstGeom>
          <a:noFill/>
        </p:spPr>
        <p:txBody>
          <a:bodyPr wrap="square" lIns="0" rIns="0" tIns="0" bIns="0" anchor="t">
            <a:spAutoFit/>
          </a:bodyPr>
          <a:lstStyle/>
          <a:p>
            <a:pPr algn="l"/>
            <a:r>
              <a:rPr sz="1700" b="0">
                <a:solidFill>
                  <a:srgbClr val="4F8CFF"/>
                </a:solidFill>
                <a:latin typeface="Segoe UI"/>
                <a:cs typeface="Segoe UI"/>
              </a:rPr>
              <a:t>Questions and discussion</a:t>
            </a:r>
          </a:p>
        </p:txBody>
      </p:sp>
      <p:sp>
        <p:nvSpPr>
          <p:cNvPr id="8" name="Rounded Rectangle 7"/>
          <p:cNvSpPr/>
          <p:nvPr/>
        </p:nvSpPr>
        <p:spPr>
          <a:xfrm>
            <a:off x="3017520" y="3456432"/>
            <a:ext cx="2194560" cy="41148"/>
          </a:xfrm>
          <a:prstGeom prst="roundRect">
            <a:avLst>
              <a:gd name="adj" fmla="val 50000"/>
            </a:avLst>
          </a:prstGeom>
          <a:gradFill>
            <a:gsLst>
              <a:gs pos="0">
                <a:srgbClr val="7FD4FF"/>
              </a:gs>
              <a:gs pos="50000">
                <a:srgbClr val="2F7DFF"/>
              </a:gs>
              <a:gs pos="100000">
                <a:srgbClr val="9D3B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3730752"/>
            <a:ext cx="8229600" cy="274320"/>
          </a:xfrm>
          <a:prstGeom prst="rect">
            <a:avLst/>
          </a:prstGeom>
          <a:noFill/>
        </p:spPr>
        <p:txBody>
          <a:bodyPr wrap="square" lIns="0" rIns="0" tIns="0" bIns="0" anchor="t">
            <a:spAutoFit/>
          </a:bodyPr>
          <a:lstStyle/>
          <a:p>
            <a:pPr algn="l"/>
            <a:r>
              <a:rPr sz="1200" b="0">
                <a:solidFill>
                  <a:srgbClr val="E8E9F0"/>
                </a:solidFill>
                <a:latin typeface="Segoe UI"/>
                <a:cs typeface="Segoe UI"/>
              </a:rPr>
              <a:t>Karan Rana  ·  B.Tech Computer Science &amp; Engineering  ·  2nd Year</a:t>
            </a:r>
          </a:p>
        </p:txBody>
      </p:sp>
      <p:sp>
        <p:nvSpPr>
          <p:cNvPr id="10" name="TextBox 9"/>
          <p:cNvSpPr txBox="1"/>
          <p:nvPr/>
        </p:nvSpPr>
        <p:spPr>
          <a:xfrm>
            <a:off x="3017520" y="4041648"/>
            <a:ext cx="8229600" cy="274320"/>
          </a:xfrm>
          <a:prstGeom prst="rect">
            <a:avLst/>
          </a:prstGeom>
          <a:noFill/>
        </p:spPr>
        <p:txBody>
          <a:bodyPr wrap="square" lIns="0" rIns="0" tIns="0" bIns="0" anchor="t">
            <a:spAutoFit/>
          </a:bodyPr>
          <a:lstStyle/>
          <a:p>
            <a:pPr algn="l"/>
            <a:r>
              <a:rPr sz="1200" b="0">
                <a:solidFill>
                  <a:srgbClr val="9A9CAB"/>
                </a:solidFill>
                <a:latin typeface="Segoe UI"/>
                <a:cs typeface="Segoe UI"/>
              </a:rPr>
              <a:t>Madhav Institute of Technology and Science, Gwalior</a:t>
            </a:r>
          </a:p>
        </p:txBody>
      </p:sp>
      <p:sp>
        <p:nvSpPr>
          <p:cNvPr id="11" name="TextBox 10"/>
          <p:cNvSpPr txBox="1"/>
          <p:nvPr/>
        </p:nvSpPr>
        <p:spPr>
          <a:xfrm>
            <a:off x="3017520" y="4462272"/>
            <a:ext cx="8229600" cy="256032"/>
          </a:xfrm>
          <a:prstGeom prst="rect">
            <a:avLst/>
          </a:prstGeom>
          <a:noFill/>
        </p:spPr>
        <p:txBody>
          <a:bodyPr wrap="square" lIns="0" rIns="0" tIns="0" bIns="0" anchor="t">
            <a:spAutoFit/>
          </a:bodyPr>
          <a:lstStyle/>
          <a:p>
            <a:pPr algn="l"/>
            <a:r>
              <a:rPr sz="1100" b="0">
                <a:solidFill>
                  <a:srgbClr val="4F8CFF"/>
                </a:solidFill>
                <a:latin typeface="Consolas"/>
                <a:cs typeface="Consolas"/>
              </a:rPr>
              <a:t>github.com/karan-rxna/Career-Pilot</a:t>
            </a:r>
          </a:p>
        </p:txBody>
      </p:sp>
      <p:sp>
        <p:nvSpPr>
          <p:cNvPr id="12" name="TextBox 11"/>
          <p:cNvSpPr txBox="1"/>
          <p:nvPr/>
        </p:nvSpPr>
        <p:spPr>
          <a:xfrm>
            <a:off x="566928" y="6309360"/>
            <a:ext cx="8229600" cy="219456"/>
          </a:xfrm>
          <a:prstGeom prst="rect">
            <a:avLst/>
          </a:prstGeom>
          <a:noFill/>
        </p:spPr>
        <p:txBody>
          <a:bodyPr wrap="square" lIns="0" rIns="0" tIns="0" bIns="0" anchor="t">
            <a:spAutoFit/>
          </a:bodyPr>
          <a:lstStyle/>
          <a:p>
            <a:pPr algn="l"/>
            <a:r>
              <a:rPr sz="950" b="1" spc="160">
                <a:solidFill>
                  <a:srgbClr val="6B6D7C"/>
                </a:solidFill>
                <a:latin typeface="Segoe UI"/>
                <a:cs typeface="Segoe UI"/>
              </a:rPr>
              <a:t>Plan  ·  Prepare  ·  Perform  ·  Succeed</a:t>
            </a:r>
          </a:p>
        </p:txBody>
      </p:sp>
      <p:sp>
        <p:nvSpPr>
          <p:cNvPr id="13" name="TextBox 12"/>
          <p:cNvSpPr txBox="1"/>
          <p:nvPr/>
        </p:nvSpPr>
        <p:spPr>
          <a:xfrm>
            <a:off x="9339041" y="6309360"/>
            <a:ext cx="2286000" cy="219456"/>
          </a:xfrm>
          <a:prstGeom prst="rect">
            <a:avLst/>
          </a:prstGeom>
          <a:noFill/>
        </p:spPr>
        <p:txBody>
          <a:bodyPr wrap="square" lIns="0" rIns="0" tIns="0" bIns="0" anchor="t">
            <a:spAutoFit/>
          </a:bodyPr>
          <a:lstStyle/>
          <a:p>
            <a:pPr algn="l"/>
            <a:r>
              <a:rPr sz="850" b="1">
                <a:solidFill>
                  <a:srgbClr val="9A9CAB"/>
                </a:solidFill>
                <a:latin typeface="Segoe UI"/>
                <a:cs typeface="Segoe U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CareerPilot — Mid-Evaluation Progress Review</dc:title>
  <dc:subject>All-in-one student preparation &amp; placement platform</dc:subject>
  <dc:creator>Karan Rana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